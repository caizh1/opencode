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1d6bf00ab425e" /><Relationship Type="http://schemas.openxmlformats.org/officeDocument/2006/relationships/extended-properties" Target="/docProps/app.xml" Id="R7f34203bd3d04dba" /><Relationship Type="http://schemas.openxmlformats.org/officeDocument/2006/relationships/officeDocument" Target="/ppt/presentation.xml" Id="R324e2853b28f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770a63cd34f22"/>
  </p:sldMasterIdLst>
  <p:notesMasterIdLst>
    <p:notesMasterId xmlns:r="http://schemas.openxmlformats.org/officeDocument/2006/relationships" r:id="R365273b6805a421c"/>
  </p:notesMasterIdLst>
  <p:sldIdLst>
    <p:sldId xmlns:r="http://schemas.openxmlformats.org/officeDocument/2006/relationships" id="256" r:id="R2f6b898fffe14559"/>
    <p:sldId xmlns:r="http://schemas.openxmlformats.org/officeDocument/2006/relationships" id="257" r:id="R325d8f69b3b04fb4"/>
    <p:sldId xmlns:r="http://schemas.openxmlformats.org/officeDocument/2006/relationships" id="258" r:id="Refb1079715284898"/>
    <p:sldId xmlns:r="http://schemas.openxmlformats.org/officeDocument/2006/relationships" id="259" r:id="Rabf573cd8eda44b9"/>
    <p:sldId xmlns:r="http://schemas.openxmlformats.org/officeDocument/2006/relationships" id="260" r:id="R033068e79b37475a"/>
    <p:sldId xmlns:r="http://schemas.openxmlformats.org/officeDocument/2006/relationships" id="261" r:id="R3bef110c8415471b"/>
    <p:sldId xmlns:r="http://schemas.openxmlformats.org/officeDocument/2006/relationships" id="262" r:id="Rafc2492f53db46aa"/>
    <p:sldId xmlns:r="http://schemas.openxmlformats.org/officeDocument/2006/relationships" id="263" r:id="Rd9b8f9a4eef64cb1"/>
    <p:sldId xmlns:r="http://schemas.openxmlformats.org/officeDocument/2006/relationships" id="264" r:id="Ra6335e0436e24542"/>
    <p:sldId xmlns:r="http://schemas.openxmlformats.org/officeDocument/2006/relationships" id="265" r:id="Rfc5e8aae61194596"/>
    <p:sldId xmlns:r="http://schemas.openxmlformats.org/officeDocument/2006/relationships" id="266" r:id="Rb9d66893689b4345"/>
    <p:sldId xmlns:r="http://schemas.openxmlformats.org/officeDocument/2006/relationships" id="267" r:id="R5320de9140c4421f"/>
    <p:sldId xmlns:r="http://schemas.openxmlformats.org/officeDocument/2006/relationships" id="268" r:id="Raf40ec47da464361"/>
    <p:sldId xmlns:r="http://schemas.openxmlformats.org/officeDocument/2006/relationships" id="269" r:id="R2215f1f0c4bd4614"/>
    <p:sldId xmlns:r="http://schemas.openxmlformats.org/officeDocument/2006/relationships" id="270" r:id="R0d447a9b66044eae"/>
    <p:sldId xmlns:r="http://schemas.openxmlformats.org/officeDocument/2006/relationships" id="271" r:id="R2d46fa63ae994295"/>
    <p:sldId xmlns:r="http://schemas.openxmlformats.org/officeDocument/2006/relationships" id="272" r:id="R2a15a5ecfe0a46cd"/>
    <p:sldId xmlns:r="http://schemas.openxmlformats.org/officeDocument/2006/relationships" id="273" r:id="R4e53651d6cab45c0"/>
    <p:sldId xmlns:r="http://schemas.openxmlformats.org/officeDocument/2006/relationships" id="274" r:id="R4bfcbe660fdf469e"/>
    <p:sldId xmlns:r="http://schemas.openxmlformats.org/officeDocument/2006/relationships" id="275" r:id="R456538939e56486a"/>
    <p:sldId xmlns:r="http://schemas.openxmlformats.org/officeDocument/2006/relationships" id="276" r:id="R5c169f3ed6ed4764"/>
    <p:sldId xmlns:r="http://schemas.openxmlformats.org/officeDocument/2006/relationships" id="277" r:id="R72cd0a3225ff41fb"/>
    <p:sldId xmlns:r="http://schemas.openxmlformats.org/officeDocument/2006/relationships" id="278" r:id="Rcd4b4d9255864faf"/>
    <p:sldId xmlns:r="http://schemas.openxmlformats.org/officeDocument/2006/relationships" id="279" r:id="R1c4876a35b474a6b"/>
    <p:sldId xmlns:r="http://schemas.openxmlformats.org/officeDocument/2006/relationships" id="280" r:id="Rb6d747257d564c23"/>
    <p:sldId xmlns:r="http://schemas.openxmlformats.org/officeDocument/2006/relationships" id="281" r:id="R16733946bc9941d1"/>
    <p:sldId xmlns:r="http://schemas.openxmlformats.org/officeDocument/2006/relationships" id="282" r:id="R463979e0cad642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6ef8c0cef4503" /><Relationship Type="http://schemas.openxmlformats.org/officeDocument/2006/relationships/slideMaster" Target="/ppt/slideMasters/slideMaster1.xml" Id="Raf7770a63cd34f22" /><Relationship Type="http://schemas.openxmlformats.org/officeDocument/2006/relationships/notesMaster" Target="/ppt/notesMasters/notesMaster1.xml" Id="R365273b6805a421c" /><Relationship Type="http://schemas.openxmlformats.org/officeDocument/2006/relationships/presProps" Target="/ppt/presProps.xml" Id="Rf1659043f04646d2" /><Relationship Type="http://schemas.openxmlformats.org/officeDocument/2006/relationships/viewProps" Target="/ppt/viewProps.xml" Id="R231d4053639d46a2" /><Relationship Type="http://schemas.openxmlformats.org/officeDocument/2006/relationships/tableStyles" Target="/ppt/tableStyles.xml" Id="Ra23e78363db04330" /><Relationship Type="http://schemas.openxmlformats.org/officeDocument/2006/relationships/slide" Target="/ppt/slides/slide1.xml" Id="R2f6b898fffe14559" /><Relationship Type="http://schemas.openxmlformats.org/officeDocument/2006/relationships/slide" Target="/ppt/slides/slide2.xml" Id="R325d8f69b3b04fb4" /><Relationship Type="http://schemas.openxmlformats.org/officeDocument/2006/relationships/slide" Target="/ppt/slides/slide3.xml" Id="Refb1079715284898" /><Relationship Type="http://schemas.openxmlformats.org/officeDocument/2006/relationships/slide" Target="/ppt/slides/slide4.xml" Id="Rabf573cd8eda44b9" /><Relationship Type="http://schemas.openxmlformats.org/officeDocument/2006/relationships/slide" Target="/ppt/slides/slide5.xml" Id="R033068e79b37475a" /><Relationship Type="http://schemas.openxmlformats.org/officeDocument/2006/relationships/slide" Target="/ppt/slides/slide6.xml" Id="R3bef110c8415471b" /><Relationship Type="http://schemas.openxmlformats.org/officeDocument/2006/relationships/slide" Target="/ppt/slides/slide7.xml" Id="Rafc2492f53db46aa" /><Relationship Type="http://schemas.openxmlformats.org/officeDocument/2006/relationships/slide" Target="/ppt/slides/slide8.xml" Id="Rd9b8f9a4eef64cb1" /><Relationship Type="http://schemas.openxmlformats.org/officeDocument/2006/relationships/slide" Target="/ppt/slides/slide9.xml" Id="Ra6335e0436e24542" /><Relationship Type="http://schemas.openxmlformats.org/officeDocument/2006/relationships/slide" Target="/ppt/slides/slide10.xml" Id="Rfc5e8aae61194596" /><Relationship Type="http://schemas.openxmlformats.org/officeDocument/2006/relationships/slide" Target="/ppt/slides/slide11.xml" Id="Rb9d66893689b4345" /><Relationship Type="http://schemas.openxmlformats.org/officeDocument/2006/relationships/slide" Target="/ppt/slides/slide12.xml" Id="R5320de9140c4421f" /><Relationship Type="http://schemas.openxmlformats.org/officeDocument/2006/relationships/slide" Target="/ppt/slides/slide13.xml" Id="Raf40ec47da464361" /><Relationship Type="http://schemas.openxmlformats.org/officeDocument/2006/relationships/slide" Target="/ppt/slides/slide14.xml" Id="R2215f1f0c4bd4614" /><Relationship Type="http://schemas.openxmlformats.org/officeDocument/2006/relationships/slide" Target="/ppt/slides/slide15.xml" Id="R0d447a9b66044eae" /><Relationship Type="http://schemas.openxmlformats.org/officeDocument/2006/relationships/slide" Target="/ppt/slides/slide16.xml" Id="R2d46fa63ae994295" /><Relationship Type="http://schemas.openxmlformats.org/officeDocument/2006/relationships/slide" Target="/ppt/slides/slide17.xml" Id="R2a15a5ecfe0a46cd" /><Relationship Type="http://schemas.openxmlformats.org/officeDocument/2006/relationships/slide" Target="/ppt/slides/slide18.xml" Id="R4e53651d6cab45c0" /><Relationship Type="http://schemas.openxmlformats.org/officeDocument/2006/relationships/slide" Target="/ppt/slides/slide19.xml" Id="R4bfcbe660fdf469e" /><Relationship Type="http://schemas.openxmlformats.org/officeDocument/2006/relationships/slide" Target="/ppt/slides/slide20.xml" Id="R456538939e56486a" /><Relationship Type="http://schemas.openxmlformats.org/officeDocument/2006/relationships/slide" Target="/ppt/slides/slide21.xml" Id="R5c169f3ed6ed4764" /><Relationship Type="http://schemas.openxmlformats.org/officeDocument/2006/relationships/slide" Target="/ppt/slides/slide22.xml" Id="R72cd0a3225ff41fb" /><Relationship Type="http://schemas.openxmlformats.org/officeDocument/2006/relationships/slide" Target="/ppt/slides/slide23.xml" Id="Rcd4b4d9255864faf" /><Relationship Type="http://schemas.openxmlformats.org/officeDocument/2006/relationships/slide" Target="/ppt/slides/slide24.xml" Id="R1c4876a35b474a6b" /><Relationship Type="http://schemas.openxmlformats.org/officeDocument/2006/relationships/slide" Target="/ppt/slides/slide25.xml" Id="Rb6d747257d564c23" /><Relationship Type="http://schemas.openxmlformats.org/officeDocument/2006/relationships/slide" Target="/ppt/slides/slide26.xml" Id="R16733946bc9941d1" /><Relationship Type="http://schemas.openxmlformats.org/officeDocument/2006/relationships/slide" Target="/ppt/slides/slide27.xml" Id="R463979e0cad642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921a47fe0a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a8445937e4088" /><Relationship Type="http://schemas.openxmlformats.org/officeDocument/2006/relationships/notesMaster" Target="/ppt/notesMasters/notesMaster1.xml" Id="R3e641a06389245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849f7377a24bb8" /><Relationship Type="http://schemas.openxmlformats.org/officeDocument/2006/relationships/notesMaster" Target="/ppt/notesMasters/notesMaster1.xml" Id="R2fcfee5e319643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b877713b324aad" /><Relationship Type="http://schemas.openxmlformats.org/officeDocument/2006/relationships/notesMaster" Target="/ppt/notesMasters/notesMaster1.xml" Id="R15e64f7244a44e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88bd1e82040db" /><Relationship Type="http://schemas.openxmlformats.org/officeDocument/2006/relationships/notesMaster" Target="/ppt/notesMasters/notesMaster1.xml" Id="Rb739ac33f3bf4d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d48902e754278" /><Relationship Type="http://schemas.openxmlformats.org/officeDocument/2006/relationships/notesMaster" Target="/ppt/notesMasters/notesMaster1.xml" Id="R0000e1e4e2a444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9868f5a68464d" /><Relationship Type="http://schemas.openxmlformats.org/officeDocument/2006/relationships/notesMaster" Target="/ppt/notesMasters/notesMaster1.xml" Id="Rf4f02275e89a45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aeb7e33383409c" /><Relationship Type="http://schemas.openxmlformats.org/officeDocument/2006/relationships/notesMaster" Target="/ppt/notesMasters/notesMaster1.xml" Id="R2aae4d4cb53c41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5a072a4c4f4b01" /><Relationship Type="http://schemas.openxmlformats.org/officeDocument/2006/relationships/notesMaster" Target="/ppt/notesMasters/notesMaster1.xml" Id="R816f3514910848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95cfce9e564ca8" /><Relationship Type="http://schemas.openxmlformats.org/officeDocument/2006/relationships/notesMaster" Target="/ppt/notesMasters/notesMaster1.xml" Id="R2119d2d58373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0ce4aaec594d30" /><Relationship Type="http://schemas.openxmlformats.org/officeDocument/2006/relationships/notesMaster" Target="/ppt/notesMasters/notesMaster1.xml" Id="R3f7e6f36b1594c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3492cb16c244b6" /><Relationship Type="http://schemas.openxmlformats.org/officeDocument/2006/relationships/notesMaster" Target="/ppt/notesMasters/notesMaster1.xml" Id="R9fbc90842ed845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78f5a4a1984f17" /><Relationship Type="http://schemas.openxmlformats.org/officeDocument/2006/relationships/notesMaster" Target="/ppt/notesMasters/notesMaster1.xml" Id="R4ecfc04d668c4a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1c793962c84d07" /><Relationship Type="http://schemas.openxmlformats.org/officeDocument/2006/relationships/notesMaster" Target="/ppt/notesMasters/notesMaster1.xml" Id="Re1950ccf0e2648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1de74661334ee0" /><Relationship Type="http://schemas.openxmlformats.org/officeDocument/2006/relationships/notesMaster" Target="/ppt/notesMasters/notesMaster1.xml" Id="R95a896e7070943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f2808f3b0b4a07" /><Relationship Type="http://schemas.openxmlformats.org/officeDocument/2006/relationships/notesMaster" Target="/ppt/notesMasters/notesMaster1.xml" Id="R8de0d3bd77fc4d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1b54fd18ab4a04" /><Relationship Type="http://schemas.openxmlformats.org/officeDocument/2006/relationships/notesMaster" Target="/ppt/notesMasters/notesMaster1.xml" Id="R2a3a953b172f41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289cfee3144aac" /><Relationship Type="http://schemas.openxmlformats.org/officeDocument/2006/relationships/notesMaster" Target="/ppt/notesMasters/notesMaster1.xml" Id="R3a9f1683debf4c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3a7e4b80c44c38" /><Relationship Type="http://schemas.openxmlformats.org/officeDocument/2006/relationships/notesMaster" Target="/ppt/notesMasters/notesMaster1.xml" Id="Rfac5b122f5504b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940a52ef4d4ec9" /><Relationship Type="http://schemas.openxmlformats.org/officeDocument/2006/relationships/notesMaster" Target="/ppt/notesMasters/notesMaster1.xml" Id="Rcbea50b8117f48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1c6dac2f364c6f" /><Relationship Type="http://schemas.openxmlformats.org/officeDocument/2006/relationships/notesMaster" Target="/ppt/notesMasters/notesMaster1.xml" Id="R92518ce13bdd47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f84a814d9f4765" /><Relationship Type="http://schemas.openxmlformats.org/officeDocument/2006/relationships/notesMaster" Target="/ppt/notesMasters/notesMaster1.xml" Id="R135a8faca1914c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19dca004af248f6" /><Relationship Type="http://schemas.openxmlformats.org/officeDocument/2006/relationships/notesMaster" Target="/ppt/notesMasters/notesMaster1.xml" Id="R8dcff95eaa2f46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7b36dfe68b4f48" /><Relationship Type="http://schemas.openxmlformats.org/officeDocument/2006/relationships/notesMaster" Target="/ppt/notesMasters/notesMaster1.xml" Id="R30724acb78e14e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2b6e35508a49bc" /><Relationship Type="http://schemas.openxmlformats.org/officeDocument/2006/relationships/notesMaster" Target="/ppt/notesMasters/notesMaster1.xml" Id="Rc63cfcab715f495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f6a025c81047d9" /><Relationship Type="http://schemas.openxmlformats.org/officeDocument/2006/relationships/notesMaster" Target="/ppt/notesMasters/notesMaster1.xml" Id="Rbf1398809baf42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000f84879c4776" /><Relationship Type="http://schemas.openxmlformats.org/officeDocument/2006/relationships/notesMaster" Target="/ppt/notesMasters/notesMaster1.xml" Id="R221ddc5401f64e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8735ca45994436" /><Relationship Type="http://schemas.openxmlformats.org/officeDocument/2006/relationships/notesMaster" Target="/ppt/notesMasters/notesMaster1.xml" Id="R7c4adcfb0fc5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65c5853014a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54c7cdaa0416b" /><Relationship Type="http://schemas.openxmlformats.org/officeDocument/2006/relationships/slideLayout" Target="/ppt/slideLayouts/slideLayout1.xml" Id="R439a580d6e62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a580d6e62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9f10957874bf6" /><Relationship Type="http://schemas.openxmlformats.org/officeDocument/2006/relationships/image" Target="/ppt/media/image.png" Id="Rec505cb69f184dfa" /><Relationship Type="http://schemas.openxmlformats.org/officeDocument/2006/relationships/notesSlide" Target="/ppt/notesSlides/notesSlide1.xml" Id="R4e1d4dfc4077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2b8aed95e4758" /><Relationship Type="http://schemas.openxmlformats.org/officeDocument/2006/relationships/image" Target="/ppt/media/image2.png" Id="R252adc2ea89349d4" /><Relationship Type="http://schemas.openxmlformats.org/officeDocument/2006/relationships/notesSlide" Target="/ppt/notesSlides/notesSlide2.xml" Id="Rcb12d5449a1a42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d386e8652442e" /><Relationship Type="http://schemas.openxmlformats.org/officeDocument/2006/relationships/image" Target="/ppt/media/image3.png" Id="R7c2e71441a0a40a3" /><Relationship Type="http://schemas.openxmlformats.org/officeDocument/2006/relationships/notesSlide" Target="/ppt/notesSlides/notesSlide3.xml" Id="R30879d76d53345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b90211424389" /><Relationship Type="http://schemas.openxmlformats.org/officeDocument/2006/relationships/image" Target="/ppt/media/image4.png" Id="R36ff5d57f48d4146" /><Relationship Type="http://schemas.openxmlformats.org/officeDocument/2006/relationships/notesSlide" Target="/ppt/notesSlides/notesSlide4.xml" Id="Ra60bc3bd214346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166ed961475f" /><Relationship Type="http://schemas.openxmlformats.org/officeDocument/2006/relationships/image" Target="/ppt/media/image5.png" Id="R61054f5172c643be" /><Relationship Type="http://schemas.openxmlformats.org/officeDocument/2006/relationships/notesSlide" Target="/ppt/notesSlides/notesSlide5.xml" Id="R702456753a3c45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8bac1f5e14cde" /><Relationship Type="http://schemas.openxmlformats.org/officeDocument/2006/relationships/image" Target="/ppt/media/image6.png" Id="Rbfb83cab01a64ff1" /><Relationship Type="http://schemas.openxmlformats.org/officeDocument/2006/relationships/notesSlide" Target="/ppt/notesSlides/notesSlide6.xml" Id="R0bc99d6b60484f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cc83969154cd1" /><Relationship Type="http://schemas.openxmlformats.org/officeDocument/2006/relationships/image" Target="/ppt/media/image7.png" Id="R80dd06cd027c40c1" /><Relationship Type="http://schemas.openxmlformats.org/officeDocument/2006/relationships/notesSlide" Target="/ppt/notesSlides/notesSlide7.xml" Id="R89bda441c72646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28be7b0ac452a" /><Relationship Type="http://schemas.openxmlformats.org/officeDocument/2006/relationships/image" Target="/ppt/media/image8.png" Id="R101a50e1406d4a10" /><Relationship Type="http://schemas.openxmlformats.org/officeDocument/2006/relationships/notesSlide" Target="/ppt/notesSlides/notesSlide8.xml" Id="R13410191ab1642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ece55522b4f83" /><Relationship Type="http://schemas.openxmlformats.org/officeDocument/2006/relationships/image" Target="/ppt/media/image9.png" Id="R4491f6fecca4490b" /><Relationship Type="http://schemas.openxmlformats.org/officeDocument/2006/relationships/notesSlide" Target="/ppt/notesSlides/notesSlide9.xml" Id="Rf16918e508b54f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e8c571afe486a" /><Relationship Type="http://schemas.openxmlformats.org/officeDocument/2006/relationships/image" Target="/ppt/media/image10.png" Id="Rc58189fa9dc64b7c" /><Relationship Type="http://schemas.openxmlformats.org/officeDocument/2006/relationships/notesSlide" Target="/ppt/notesSlides/notesSlide10.xml" Id="R67608768750a48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4b5b3fd6b481a" /><Relationship Type="http://schemas.openxmlformats.org/officeDocument/2006/relationships/image" Target="/ppt/media/image11.png" Id="Rb2b4c842f31e490b" /><Relationship Type="http://schemas.openxmlformats.org/officeDocument/2006/relationships/notesSlide" Target="/ppt/notesSlides/notesSlide11.xml" Id="R2fc633e369134e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d7a2c58fe4e51" /><Relationship Type="http://schemas.openxmlformats.org/officeDocument/2006/relationships/image" Target="/ppt/media/image12.png" Id="R4644cb746a004f89" /><Relationship Type="http://schemas.openxmlformats.org/officeDocument/2006/relationships/notesSlide" Target="/ppt/notesSlides/notesSlide12.xml" Id="R88003811880d47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1f87174534dcf" /><Relationship Type="http://schemas.openxmlformats.org/officeDocument/2006/relationships/image" Target="/ppt/media/image13.png" Id="R31b974cfd6db4875" /><Relationship Type="http://schemas.openxmlformats.org/officeDocument/2006/relationships/notesSlide" Target="/ppt/notesSlides/notesSlide13.xml" Id="Red6f705a70cf41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cf4239aa14f9c" /><Relationship Type="http://schemas.openxmlformats.org/officeDocument/2006/relationships/image" Target="/ppt/media/image14.png" Id="R82687a4bde0648fe" /><Relationship Type="http://schemas.openxmlformats.org/officeDocument/2006/relationships/notesSlide" Target="/ppt/notesSlides/notesSlide14.xml" Id="R8db62583236c4b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f5751171742cc" /><Relationship Type="http://schemas.openxmlformats.org/officeDocument/2006/relationships/image" Target="/ppt/media/image15.png" Id="Rc929515f09364e38" /><Relationship Type="http://schemas.openxmlformats.org/officeDocument/2006/relationships/notesSlide" Target="/ppt/notesSlides/notesSlide15.xml" Id="Recc2f85fcf204c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1825b98974d56" /><Relationship Type="http://schemas.openxmlformats.org/officeDocument/2006/relationships/image" Target="/ppt/media/image16.png" Id="R84299bfb08204ae4" /><Relationship Type="http://schemas.openxmlformats.org/officeDocument/2006/relationships/notesSlide" Target="/ppt/notesSlides/notesSlide16.xml" Id="R1c22e00966ad4d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a09caf9574d80" /><Relationship Type="http://schemas.openxmlformats.org/officeDocument/2006/relationships/image" Target="/ppt/media/image17.png" Id="Rb11e129f58f145df" /><Relationship Type="http://schemas.openxmlformats.org/officeDocument/2006/relationships/notesSlide" Target="/ppt/notesSlides/notesSlide17.xml" Id="Rbfca65a1898743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b8d7e6e3943a6" /><Relationship Type="http://schemas.openxmlformats.org/officeDocument/2006/relationships/image" Target="/ppt/media/image18.png" Id="Rd6170f2929144413" /><Relationship Type="http://schemas.openxmlformats.org/officeDocument/2006/relationships/notesSlide" Target="/ppt/notesSlides/notesSlide18.xml" Id="R5541446f001b4e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ef7707d6b42dc" /><Relationship Type="http://schemas.openxmlformats.org/officeDocument/2006/relationships/image" Target="/ppt/media/image19.png" Id="R68f070a7f2a2419d" /><Relationship Type="http://schemas.openxmlformats.org/officeDocument/2006/relationships/notesSlide" Target="/ppt/notesSlides/notesSlide19.xml" Id="R28814a13ac604e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4966c5b32469a" /><Relationship Type="http://schemas.openxmlformats.org/officeDocument/2006/relationships/image" Target="/ppt/media/image20.png" Id="R0fd5c6dde0194e3e" /><Relationship Type="http://schemas.openxmlformats.org/officeDocument/2006/relationships/notesSlide" Target="/ppt/notesSlides/notesSlide20.xml" Id="R9be47d0ea3234f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4837cc31e4bf2" /><Relationship Type="http://schemas.openxmlformats.org/officeDocument/2006/relationships/image" Target="/ppt/media/image21.png" Id="R03d3168311414528" /><Relationship Type="http://schemas.openxmlformats.org/officeDocument/2006/relationships/notesSlide" Target="/ppt/notesSlides/notesSlide21.xml" Id="Rbc48a08dc3524e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43e55c80429a" /><Relationship Type="http://schemas.openxmlformats.org/officeDocument/2006/relationships/image" Target="/ppt/media/image22.png" Id="Rc7b7e2d4863940d3" /><Relationship Type="http://schemas.openxmlformats.org/officeDocument/2006/relationships/notesSlide" Target="/ppt/notesSlides/notesSlide22.xml" Id="Ra6fa40732e3642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9b6dddf7243b7" /><Relationship Type="http://schemas.openxmlformats.org/officeDocument/2006/relationships/image" Target="/ppt/media/image23.png" Id="Rdcc5c70bee794739" /><Relationship Type="http://schemas.openxmlformats.org/officeDocument/2006/relationships/notesSlide" Target="/ppt/notesSlides/notesSlide23.xml" Id="R6f79bc6a4620499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0cf8ef3c042a3" /><Relationship Type="http://schemas.openxmlformats.org/officeDocument/2006/relationships/image" Target="/ppt/media/image24.png" Id="Rfe0c239bc53645d2" /><Relationship Type="http://schemas.openxmlformats.org/officeDocument/2006/relationships/notesSlide" Target="/ppt/notesSlides/notesSlide24.xml" Id="Read5197dfe0f4f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0e8a9b9014421" /><Relationship Type="http://schemas.openxmlformats.org/officeDocument/2006/relationships/image" Target="/ppt/media/image25.png" Id="R54dca477c8364ccb" /><Relationship Type="http://schemas.openxmlformats.org/officeDocument/2006/relationships/notesSlide" Target="/ppt/notesSlides/notesSlide25.xml" Id="Rfa4fe8d6569f45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4ca3d2a0242ef" /><Relationship Type="http://schemas.openxmlformats.org/officeDocument/2006/relationships/image" Target="/ppt/media/image26.png" Id="R6a18996982c54dca" /><Relationship Type="http://schemas.openxmlformats.org/officeDocument/2006/relationships/notesSlide" Target="/ppt/notesSlides/notesSlide26.xml" Id="R2695b519170641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8479d01f4bba" /><Relationship Type="http://schemas.openxmlformats.org/officeDocument/2006/relationships/image" Target="/ppt/media/image27.png" Id="Re9f5b7e1a8b64e46" /><Relationship Type="http://schemas.openxmlformats.org/officeDocument/2006/relationships/notesSlide" Target="/ppt/notesSlides/notesSlide27.xml" Id="Rcdc58e7950b84f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16C6B-3B12-4B84-919B-4A1DC057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773DF-2C5F-49C3-8F73-22B33B25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8A828-B12C-424E-B24D-6CB0C4C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325A9-136A-4465-9C16-08D2B02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07D10-AD32-483A-BE56-C4B17DB1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809B6-F96B-47BD-8117-51599150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2DD6D-6D1C-4C4E-98FE-CE1D3D98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44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29789-071A-485B-835F-F18C3586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EA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05cb69f184dfa"/>
          <a:stretch xmlns:a="http://schemas.openxmlformats.org/drawingml/2006/main"/>
        </p:blipFill>
        <p:spPr>
          <a:xfrm xmlns:a="http://schemas.openxmlformats.org/drawingml/2006/main">
            <a:off x="723900" y="1104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ED84B-ADAD-400E-BDB0-E3AC54A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00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OpenCode Remote / Embedded C/C++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19F00-5C7D-45D5-BA0F-A9CD9151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66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面向嵌入式 C/C++ 的 VS Code 编程辅助插件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0E44F-174F-44EF-810D-6E88D26E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重点：整仓代码理解，而不是只做代码补全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346D2-8009-4263-897E-0913B4D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把本地 Code Graph、RAG Evidence 与 Local Analysis Bridge 变成可审计的仓库级问答能力。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B1AD7-8B8D-4E30-B2D1-884186B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5B602-B1C0-4A45-8D61-B686316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4E5FF">
                <a:alpha val="4392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C38D6-B575-4677-A681-E44FC11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017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VS Code 内使用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DC2CE-FADF-4019-A7D5-F6BFBE7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101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32232-0800-4E99-9760-E49EFD4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EFFB7">
                <a:alpha val="4392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9B260-F311-4599-828B-3B23145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1017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远端推理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F8598-0B24-425E-8A1B-FB53F37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01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27DE3-E636-48C6-952C-F5246C2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BBA2FF">
                <a:alpha val="4392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7BFAC-79A8-491B-AB1C-B42235F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21017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本地证据注入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E36E9-C82A-4C44-A925-F3473D4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01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05ABA-3F0B-48B4-B72E-A60F0D4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FFD27A">
                <a:alpha val="4392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BF333-3DA6-4E08-BB8C-4346E37C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1017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Local-only Guard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3E348-1FD1-4F44-8BB0-105ED87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2114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8F3AD-04B2-453B-B9E8-3BE961B1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114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>
              <a:alpha val="84706"/>
            </a:srgbClr>
          </a:solidFill>
          <a:ln xmlns:a="http://schemas.openxmlformats.org/drawingml/2006/main" w="11430">
            <a:solidFill>
              <a:srgbClr val="74E5FF">
                <a:alpha val="4705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FC9F3-7810-41D5-ADE2-0837E703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Code Graph</a:t>
            </a:r>
          </a:p>
          <a:p xmlns:a="http://schemas.openxmlformats.org/drawingml/2006/main">
            <a:pPr algn="ctr">
              <a:defRPr sz="18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RAG Evidence</a:t>
            </a:r>
          </a:p>
          <a:p xmlns:a="http://schemas.openxmlformats.org/drawingml/2006/main">
            <a:pPr algn="ctr">
              <a:defRPr sz="18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Local Bridge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A46973-6544-4077-86BD-28DFBFB8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</p:spTree>
    <p:extLst>
      <p:ext uri="{BB962C8B-B14F-4D97-AF65-F5344CB8AC3E}">
        <p14:creationId xmlns:p14="http://schemas.microsoft.com/office/powerpoint/2010/main" val="53006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4A6A09-57D9-483A-8E0F-BC00FE4D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114E-0EB3-4EBB-96C1-D59A6B54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C7A2A-718B-420E-86DF-49EAD71C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DB3B4-11CC-4618-A9AB-A09E2996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2C0F8-25D0-4DF1-9AAF-0F3BC92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adc2ea89349d4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C30BB-429C-4AB0-BE7B-0411EFF3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3ABF7-D27A-4D55-8685-3C6C353E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7B0C8-2BD5-4D07-B18E-3EC53421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752AF-03D2-4A66-8DFF-298A305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嵌入式开发的核心痛点是系统认知成本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5C5D7-2388-4673-9EC1-CD3A5F9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真实问题通常跨文件、跨模块、跨状态机，单文件补全只能碰到表层。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BACA4-7D6F-4A7B-AEA7-7614195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3D0B7-3547-431C-84E9-631AEC8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调用链长，业务逻辑散落在驱动、协议、任务和状态机之间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9D17-07FF-465B-9E30-1A2341D9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DB875-139B-44D5-BEBC-66EC9FD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.c/.h、宏、条件编译、寄存器、RTOS 与 MMIO 交织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F5128-1EB3-4B22-97B5-FAAC3CEB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4F5B3-F71D-407B-9E3C-0D92CD17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新人最常问的不是下一行怎么写，而是状态从哪来、谁调用谁、改动影响哪里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27137-AFF7-4C09-9D2D-35923303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F7686-9EFE-4439-9F18-2865CE0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AI 的价值应从“写几行代码”上升到“读懂整个固件仓库”</a:t>
            </a:r>
          </a:p>
        </p:txBody>
      </p:sp>
    </p:spTree>
    <p:extLst>
      <p:ext uri="{BB962C8B-B14F-4D97-AF65-F5344CB8AC3E}">
        <p14:creationId xmlns:p14="http://schemas.microsoft.com/office/powerpoint/2010/main" val="1003481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5F0C45-CCD9-4599-8F18-874ECE9A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106C0-F22A-4EAE-B3FC-57629AB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E75DE-223D-460C-9B95-439F6163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D388F-E8D9-4C2C-92EF-AF653D37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A080A-F395-4C6F-B75A-39F675D0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e71441a0a40a3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CC59E-87AA-401F-8D89-A8D61A23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现状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60B3E-841A-49BA-9D3B-A4A32140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FE015-A060-4E17-AC03-194DE4E7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DCDF-7C71-4C70-AD71-BA3B8D8F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通用编程助手强在生成，但弱在固件证据结构化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BF7CB-1C50-488B-BFFD-FCDFF04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相似代码检索不等于还原调用关系；嵌入式需要可追溯的结构证据。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D8955-FA30-49BE-A4F0-506418A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EEDA8-F923-4648-9AD2-34624403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04C8C-3323-4BB4-85E3-E6322BA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544C8-C3B0-4F6D-9929-5D40C977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通用助手擅长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C6AE9-3E24-4757-8D4C-5364928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单文件补全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局部解释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Web/应用生成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语义搜索问答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34FC0-8FC3-410D-99B5-65FCE260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28875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725BF-B063-4145-BA8D-B562B8D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8FA3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2F15B-1F6E-438D-BC19-ED795134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FCD88-0485-4FB1-ACE4-63F35E3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固件仓库缺口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DDF9D-EC5D-4F03-A129-3635D1B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调用关系还原不稳定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宏/include/状态机缺少结构化理解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大仓容易遗漏关键文件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云端文件系统边界不清晰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ISR、buffer、volatile、MMIO 生成风险高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4BFA1-6C26-427E-AC4A-E110CE06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CA0A0-7F96-4941-A001-9766F48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98768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410EE7-145E-41B3-A65D-E449710D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75A46-3DF5-431B-8B60-286365F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8378-A12F-416B-B41B-74E03D8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EB546-A319-4C6E-BFB9-859AF20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3116B-3564-4334-8C8D-78D40CC5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f5d57f48d4146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8EAA6-BC6D-42BF-A5BC-428EDAA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插件定位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9FA2D-29BC-4341-9189-9207BA2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F1254-EF42-41EA-B1C5-0E3993D7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43BCD-C544-48AE-B524-78ED54E3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核心不是远端聊天，而是本地证据系统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0595F-F0FA-4D92-ACC0-8D8F0C66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插件在 VS Code 本地收集上下文和 code graph，再把与问题相关的 evidence 发送给远端 OpenCode。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D35EE-D479-4AC5-A50E-3A3C090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95575"/>
            <a:ext cx="384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A77F2-6935-43C9-9263-064FAAC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384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53B">
              <a:alpha val="86667"/>
            </a:srgbClr>
          </a:solidFill>
          <a:ln xmlns:a="http://schemas.openxmlformats.org/drawingml/2006/main" w="11430">
            <a:solidFill>
              <a:srgbClr val="74E5FF">
                <a:alpha val="5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B5043-AFF4-449B-9341-565C40F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Local Evidence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A814F-C559-49BB-A659-598843F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11063-6AB3-429D-B64D-15441B3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CBAB0-06BF-4B1B-A643-61965B9A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Current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4BD0A-87BB-4062-AC98-C3E9D740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8597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4929C-84D4-4841-AA73-4E51259E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61E57-89A9-4B51-9F1A-53444DA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812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14D5D-59E6-4519-99EC-15491BF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8597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7891B-113F-4E80-9F59-9413E9C0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8904F-6734-4C59-991F-77382341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812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0D342-AAA4-4324-85B7-3593021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7172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C21C9-022F-4563-B5A6-50EBC4AD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42CE5-7552-4594-A329-91761F4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669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Git diff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A9C2B-BD26-4778-B9CF-8FF05E47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3862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E1F06-8950-4F7F-ABCF-F088271D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EF01F0-4186-4A9E-A7F5-5EAAE80F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@ files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33187-C17E-4526-AA5F-D574BE0C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5297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C8B8E8-20D8-43B3-B685-A8DE3245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B0217-5A41-47BE-8626-4A46382A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C/C++ Code Graph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49973A-5700-472A-A19D-E136429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5297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ACB5C-A7D8-4BCF-B7DC-0955559C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7E9ADE-AFB7-4889-82D2-99AEC1E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482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RAG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4B0FB-978A-446B-A15C-100AE096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4C053-2DB6-4FC5-B857-6365492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71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65B3C-C7C5-4037-88A6-508E012B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338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Analysis Bridge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380D0-5FFC-4617-880F-BE3A632C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远端服务不直接读取本地文件系统。</a:t>
            </a:r>
          </a:p>
        </p:txBody>
      </p:sp>
    </p:spTree>
    <p:extLst>
      <p:ext uri="{BB962C8B-B14F-4D97-AF65-F5344CB8AC3E}">
        <p14:creationId xmlns:p14="http://schemas.microsoft.com/office/powerpoint/2010/main" val="3777064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1B1EF-F7CE-4BDB-BFA7-D27EFB56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CBDF3-4C04-4A14-898C-D52F5B6A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2A3B3-88A0-4501-8F60-B72B17B4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4292D-2153-47A1-83B9-ED15AA86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AD40C-DA33-4B58-BDEE-F99C381B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4f5172c643be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74E4-799C-4D83-B8C5-BC3372FE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核心能力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8D22-4EB8-499A-9932-68B3F055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BB7C5-F5DE-42EF-9B36-1806E56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8D583-C5B5-4811-B421-FE62403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四类能力围绕整仓理解闭环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3EC7E-401B-45F3-84A4-ADECA08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聊天、Code Graph、Code Intelligence 与补全流水线共享本地上下文底座。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E9B71-682F-4AE2-819D-6BB3FFEE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40D0D-1484-40D5-952A-59F25F2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EE82-B5EE-4C21-B822-51C315CE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3FC64-994E-4FD6-9B06-740B2775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聊天问答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F4631-618D-432F-B025-7796AD9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当前文件、选区、诊断、Git diff、引用文件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F3D51-D08B-416B-9C51-D14445D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52675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3F5CB-D90B-4E22-AEE2-F12A9B4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16FF8-49A5-4CFC-80C6-ADF0D202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1B6DA-2E9E-4126-8378-CB0BEDD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整仓理解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26A05-F93A-4840-AEE5-5FFAF7A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include、宏、函数定义、调用关系、evidence 注入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BF6E0-F994-4C11-B748-99DF214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C4499-8094-4FE4-A92B-1254EF6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DDCBA-6A7E-4F6D-9C5C-CF0F1151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EB417-8782-4DC8-90B0-960399B0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Intel 面板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293B0-0714-489E-BD23-7CE72C6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模块摘要、状态机、transition、confidence、源码跳转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B24B1-2FCA-437B-A307-A6FEF2DB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AD964-8F37-4323-95A6-AEB695A7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1BE63-9CE6-4AE7-B161-2595111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F77BF-5D78-468A-A197-7993ED3D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Inline Completion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68A67C-2C71-47CF-8004-04365598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完整流水线已具备，作为后续增强方向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6ADF1-50D2-4BF4-AD02-3862CDF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57575"/>
            <a:ext cx="2247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313F5-8FF4-4EF9-8ED5-FE64ADFE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2247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136">
              <a:alpha val="91765"/>
            </a:srgbClr>
          </a:solidFill>
          <a:ln xmlns:a="http://schemas.openxmlformats.org/drawingml/2006/main" w="11430">
            <a:solidFill>
              <a:srgbClr val="74E5FF">
                <a:alpha val="46667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11B764-FF30-4608-BAC0-8E6FC5FA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004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Local Context Foundation</a:t>
            </a:r>
          </a:p>
        </p:txBody>
      </p:sp>
    </p:spTree>
    <p:extLst>
      <p:ext uri="{BB962C8B-B14F-4D97-AF65-F5344CB8AC3E}">
        <p14:creationId xmlns:p14="http://schemas.microsoft.com/office/powerpoint/2010/main" val="2081568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C4A98-0030-45B7-B093-D57ABB6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52EF1-E1BE-4172-9370-C5F77E25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28F04-90B9-4CBD-BBEC-8C2D255F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D98A5-668F-4807-B456-BE5BACB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C0E27-1153-4510-9129-7EDA9543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83cab01a64ff1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65F6-E5DF-462F-A73E-6AD64F3D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典型问题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0B413-ABC4-45D2-B42A-D6AC5A6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25A4E-0519-49FD-A842-C5638BF4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A56ED-71FF-464E-8735-984C05E6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我们要回答的是“系统怎么工作”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64F73-9AD3-4A1F-8F9C-499F33B4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这些问题都依赖调用图、include 图、宏、状态机和模块边界的组合证据。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A5A05-FEA0-41E1-BAFB-DC7D996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E601B-058D-442A-920E-091B18F7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CA8DF-5689-40A4-A22E-2E68632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谁调用了 xxx_init()？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58286-BA9D-4540-97A0-8A8CCE9D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527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E2635-12D7-4B47-A402-2ABAA20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F877A-C3F4-43AF-872C-7571A3F8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sensor_state 的状态流转路径是什么？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B807B-0427-48E9-B699-0259BC3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527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C3A3F-A17F-43F8-8E5D-DF93C883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3A165-61BB-495E-A56F-9281407F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驱动接口改了会影响哪些模块？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19212-BC59-4711-919E-EBB3ED8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527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B8D11-964D-4D68-B15B-33DB71DD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56B4B-D44B-441B-B76C-1DD6DA54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错误码从哪里产生并在哪里处理？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DBF6D-4A12-4E60-A90E-055A628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19A66-2613-4A00-BD10-50DB672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BACDA-36E6-4D56-AF27-B1BB413A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模块初始化流程是怎样的？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C1B32C-6F64-42D1-9557-5CED67A0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528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40162-53E8-4ADD-88A8-F570F97C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3D775-6952-4AE4-BA5E-7D2E400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协议包从接收到回调的链路是什么？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C43ED-1F04-4133-9C54-F7F37508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832048-8032-4ADE-A8E7-5EFBE51A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1A498-5313-40C5-A785-2DC5ADC0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宏在哪些文件影响编译路径？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AA1BF-08EA-4FD4-A486-26B70D2D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528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BC1785-F572-4095-87A5-3C18642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862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90980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0924DD-33F7-4A1A-96D0-D94BDBB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当前 diff 会影响中断或 RTOS 任务吗？</a:t>
            </a:r>
          </a:p>
        </p:txBody>
      </p:sp>
    </p:spTree>
    <p:extLst>
      <p:ext uri="{BB962C8B-B14F-4D97-AF65-F5344CB8AC3E}">
        <p14:creationId xmlns:p14="http://schemas.microsoft.com/office/powerpoint/2010/main" val="20701381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8A4E4E-2820-44E8-A625-BB0F1B7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03A2A-9EEA-4CF4-AE0A-FC591D50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B2DC0-16B2-4D64-AA3E-5B7DB18D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C590C-64B0-4CE9-9845-75DD794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FAAE8-3CC9-48EF-935B-F0E62DD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d06cd027c40c1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A774-CF71-49E6-8A91-91767284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总体架构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D3A1B-D840-4932-8771-9C39C724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8F7E6-E482-47A6-94AA-46E06AA8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QA flow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1F584-77E9-497D-9C46-AC6BA7C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本地先分析，再把问题相关证据交给远端模型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5A751-17CE-4138-8942-88E5AAA2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关键边界：OpenCode Server 只基于插件提供的上下文和 evidence 回答。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E853E-3654-448F-8BA0-516BCEA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2575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84180-472D-489C-8EF1-EEE54767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2575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536AE-5057-4E9C-A69F-D781EDE2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VS Code 本地侧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7CB3E-61AC-4F0B-926B-548844AA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5AC3D-9B04-41F3-A036-8A86E76B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5D409-5AE2-4B18-83AF-6AA05D5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Editor Context Tracker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78666-65FC-4D94-BAA4-1040703F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DD0FE-7CEE-4067-BD55-9B481A49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162F6-A726-4E08-AE74-CD6CB78F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051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Local Workspace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68A07-0E87-4C5C-9CB0-00AB4A45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B8F8E-167D-44E9-93AB-9A52F27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CEADF-F96E-4C40-AA2B-3B374CC0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C/C++ Code 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CBAC8-DE89-48C2-9BF5-9F70FBE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C138F-73A9-4C5F-8AAA-C4EBFF00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C1D48-6979-4640-AAFB-27527A03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Optional RAG / Rerank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6D6AF-411B-4E03-B1DA-7E823E70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910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4BE0D-10D9-46B2-8030-93F344D8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E3777-B7D8-48DF-97E9-B0F5EE67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Analysis Bridge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9A6B3-26D9-4755-8212-69511AF5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D50BD-F0C9-4957-9DEC-42D9796D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019BE-5EB6-46F2-B0EE-401231C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Code Intelligence 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D14357-8284-49E6-9A27-00C6F67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71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0D94E-0C28-4547-8F5B-0CEC0273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A8D345-979E-4B65-A83E-BD167FFB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14575"/>
            <a:ext cx="32575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BF33F8-87CA-4F2F-A63D-40B2EBCC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32575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7C7BB4-CDC9-4939-8D35-F600773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66DC48-F516-4829-8DF0-5A38F9E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813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D0B014-DAFB-4321-8ADA-E1886B0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146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BAB53-6827-44D6-B452-56BE840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File slices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FCE91F-92A8-48ED-AFA6-2F2CB19A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897A18-39B0-4349-9EE9-A74A2E8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670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2B25E2-A7F7-494E-98F1-D7B11BB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051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Symbols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F2D8AA-901A-4875-871C-9747C4E7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861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1DE00E-B03A-4C07-947B-E9713B21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21EBC8-040F-4BF7-B457-4638282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576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Callers / callees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62A9A7-1240-4041-B448-C9F41D33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386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DF2F19-2EBC-47C0-A487-6E66D95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719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58E76D-DC92-4CC7-B36F-3469EE20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1002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State transitions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4D5A42-F42D-4C9D-A54D-F33ADAEA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910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59C7E9-57F6-4483-AC1A-3786D7C6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240F6E-C5BB-44EF-9866-EDEBE1A2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Module summaries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07C852-50C6-4F73-83D2-99CB7C9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34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2F610F-E6A1-4697-BB30-16F6F01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767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5A04C1-23A7-4DF5-9EE2-D5931DE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148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Audit trace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07630F-44D1-40E4-BC8D-CBBB199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F1B469-C24C-4F85-8899-4838DC37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3CD1B5-5DF0-4ECD-9BAE-BC88E90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14575"/>
            <a:ext cx="32575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B4002C-B3D7-4AD0-B7A7-3E38557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2575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4E294B-58FD-44E5-91BF-2DC8248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远端侧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BD9677-C75E-4277-B20B-28874FD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813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59A353-B526-4E24-82E0-8FADCE7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039119-AEF9-49C2-BF84-468B1284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OpenCode Server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CD1F15-6423-462F-BDB0-0F106073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0515ED-B24B-4FC5-AA7D-CBE07C6F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7F40DB-3FF7-4881-905B-3ED0230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0517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指定 agent / model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734476-1E6C-45A4-9C26-BEB0006C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8617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9AAA49-CE15-4965-A349-E76C8E38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B361B5-285E-461F-A20A-FB7DF6BA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576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POST /prompt_async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1BF23B-D00C-4B6C-80A4-B41F0C47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B04ABE-9D62-448E-B35B-36990ADB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71925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F36632-4A8F-41E8-A5CF-CBC37BD1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0025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Grounded answer</a:t>
            </a:r>
          </a:p>
        </p:txBody>
      </p:sp>
    </p:spTree>
    <p:extLst>
      <p:ext uri="{BB962C8B-B14F-4D97-AF65-F5344CB8AC3E}">
        <p14:creationId xmlns:p14="http://schemas.microsoft.com/office/powerpoint/2010/main" val="10982672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F1F43-87DE-41A3-BE6E-99B4F05C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2E611-7C34-4C9C-A875-7B475E5A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722F8-0D8E-4EC6-965F-48B64B6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4C2E9-C337-4D75-B136-679F3A2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D34BC-EB67-447A-95ED-63456798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a50e1406d4a10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C2F56-25B9-4F02-89F6-D9079360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整仓理解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43848-5533-465F-A773-C1194D7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B08D-2346-4556-A4B9-CA1E2395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D5C51-1561-4732-8AFD-080402B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本地索引把 C/C++ 仓库变成可查询结构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107D8-EF80-423C-A050-FE7568C4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索引在 extension storage 中维护，不写入代码仓库。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687F0-2A29-4E69-87E8-101A8843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99CBD-9902-472B-BE77-4512018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E4132-F166-4EA5-84E4-758D9ECA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F1623-E84C-4AF6-BD6C-10D3170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扫描 .c/.h/.cc/.cpp/.hpp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AE897-D0FD-4597-95B7-A58CF38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052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1E6F0-4722-4698-97BE-8B1FEE66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290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4629C-EF43-46AC-8C31-A3756766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62275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E73EC-917D-4316-9552-39DE839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95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446E6-A691-4EBF-B61F-C6455448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DCDF6-A147-425C-A1CC-BD30A9DC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861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提取 include / macro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A2820-F09A-4F67-ACDB-839D520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59546-6464-4B22-87E4-FF32D6CE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290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942CA-AC18-49E7-8446-3B8F0780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62275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90979-9607-4E2A-AD11-86A8F7E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61707-224D-40BA-8D44-C5183EA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039B5-20C1-4677-AB63-E56B7AFA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861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提取函数定义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852A8-5192-4D8A-BCF4-079A78FA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28351-1602-4125-8CDD-3D19C50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290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20539-2DCD-49F4-811E-720B469F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62275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C24A4-BB4D-443A-8679-41D4C249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97C00C-FCB3-4524-AB93-85B9E949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2E237-465B-46EF-AB04-3793D18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861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提取函数调用关系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760F2-BB13-4BC9-B395-CB57E13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285278-DF2B-4BCC-AB18-DFDFDF85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882FD6-8D7D-4AF5-B98D-83C1ECB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62275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3857C-0527-4877-B4D7-FC6F082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F8A5E-4106-4954-8634-39341BDA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570D7B-8F78-4268-B413-68FD66E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861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保存到 VS Code extension storage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E12994-8B00-4923-A068-234D289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434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634EFD-F37C-4B8A-A652-2C181B8E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768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EFFB7">
                <a:alpha val="43922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0B7559-876F-49AE-8D0C-1F133F5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434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不写入代码仓库</a:t>
            </a:r>
          </a:p>
        </p:txBody>
      </p:sp>
    </p:spTree>
    <p:extLst>
      <p:ext uri="{BB962C8B-B14F-4D97-AF65-F5344CB8AC3E}">
        <p14:creationId xmlns:p14="http://schemas.microsoft.com/office/powerpoint/2010/main" val="5824991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83C6B-26CB-4EE5-9176-4F55DD01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5D42C-652D-4423-BBF9-096B2DF7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87C9-AD15-42CC-9AFE-C8B050D8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2162-BF66-4A5F-8C8E-A766FB88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506F7-FC40-4DBB-96F1-7791233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1f6fecca4490b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18592-7658-4440-B5AE-9D9341A6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整仓理解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A7E63-FC70-4C24-A7B2-E8D3D57D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2E063-5055-4A61-BC9C-0AFECB6E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5A010-EEC2-4FC6-ADCC-20AF98F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不要把整仓塞进 prompt，要按问题取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113B7-448A-4229-8360-E6014E6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整仓源码进 prompt 会带来成本、噪声和不可扩展性；动态 evidence 才能稳定。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061E9-0689-4B8D-9AAD-B60B60D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4495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ED00D-BDE1-423B-8DB2-D1F6FFA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95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8FA3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C91C0-E65B-4BF0-8128-FBA30CC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0E3E-6D80-4336-B72A-01A9FC63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4114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错误做法：整仓塞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9E157-082B-4752-8BD2-F6DCDDD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114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prompt 太大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成本高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噪声多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模型抓错重点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大仓不可扩展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134BE-34EC-4C00-8905-01CDE040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47925"/>
            <a:ext cx="4495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F5EA9-63EF-455E-AA10-BDDB990E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495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9C23-9AF9-4F67-8396-D1F69BF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80B44-A2F9-42E6-8324-0BF2B737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52700"/>
            <a:ext cx="4114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我们的做法：动态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8E879-D243-472F-B23D-6A9FC3D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4114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本地结构化索引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按问题检索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只注入相关片段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保留 evidence 来源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可审计可跳转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5B466-0240-452E-9E0D-12B7C4C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433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Instead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90823-5F67-48B4-ABD7-99B4925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005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E34F4-3144-4D98-B615-32E4624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4E5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67656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B0A66C-6700-488A-B4FC-CFA58BF8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8B5A7-D1B0-4324-8D19-FF73D6A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30121-220F-4FE1-AD7E-A30AFF41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9444D-6F12-4F9B-9BE2-5F359B44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DBCF4-6903-44E6-981E-263E13EF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189fa9dc64b7c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A12B3-8B68-431F-B4A1-AF6CC55F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整仓理解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CD9B2-DE6B-4F69-A277-F0E0EE5E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18963-FAB1-4487-94AE-EAFCB577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84A41-0C5A-43F5-A140-19FC0FB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不同问题类型需要不同证据组合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CFE09-7EE4-4757-9083-A0765FA5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检索策略必须尊重问题意图，而不是只看相似文本。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3C78A-37BE-4EA7-BCCA-ACCD6532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0439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ED856-B6D7-44D7-AC41-FDB1F9C4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0439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4E5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E483F-BA28-4D16-967A-0549105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问题类型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8601B-CB86-42BB-A992-47DDEAE5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注入证据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09226-62CC-4E42-9CAB-5CE33E9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6C1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39A00-C343-4E8E-9C38-CB23A6F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谁调用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0B163-025B-4AB2-B757-43C97F3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X 定义、调用者、关键调用点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117E4-6DCA-4494-B80A-EE3279E5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3372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6C1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352CC-70B3-482F-800C-3983EA0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99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X 到 Y 调用链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0DACC-FC3E-4D99-9E1C-E69E6FF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候选链路、节点片段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0AFA1-D37F-4758-AFC4-885FDDB1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6C1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75E0E-941C-4CC9-B7B2-46DDC9B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影响范围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D07A5-407E-47D5-AF40-A300EE3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调用者、被调用者、include、模块线索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C8F67-AACE-44E0-906C-BA185B2B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6C1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43A29-3B0B-44DB-A224-0366E49E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671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架构概览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A345A-D4AA-4EA9-80A4-72C28ABA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目录/模块摘要、热点符号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90650-416D-4052-9716-EAD7AD6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6C1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6E500E-0E50-4528-9D37-968304D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状态机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9CD16-A24C-4169-9A7D-9E961B16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state、transition、guard/action、Mermaid/DOT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1553F-8B6B-41CB-A72E-DABD1EC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6C1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2C0A98-F7C5-4775-9F51-F72562B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244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模块流程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03FCAC-B538-4C87-89E5-E58B34B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244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函数级、文件级、目录级摘要</a:t>
            </a:r>
          </a:p>
        </p:txBody>
      </p:sp>
    </p:spTree>
    <p:extLst>
      <p:ext uri="{BB962C8B-B14F-4D97-AF65-F5344CB8AC3E}">
        <p14:creationId xmlns:p14="http://schemas.microsoft.com/office/powerpoint/2010/main" val="8726734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EB7A0-0AEA-4193-A223-6B5AABD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BABF-68B1-4598-A64D-E7577B25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95E1-05B7-404B-9C2E-885F456B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33759-5334-489B-9235-DC32CF6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A2C08-E0D7-4682-8D7C-DC478F64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c842f31e490b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908CF-C317-416C-B82C-BCEBA347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嵌入式增强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867C4-CADA-4046-A9FD-4BB790A5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393EC-243B-40EC-91A9-6E5C42BF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929ED-85DB-43A8-9718-77FBCB8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状态机理解是固件代码问答的关键能力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4E670-A6A9-4873-A4A2-1B3B974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设备、协议、采样、错误恢复和 OTA 流程通常都由状态转移定义。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8939C-1569-42BE-B6CF-CFCD4E96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EF578-9EA9-4E71-9D8B-4804B175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A7D2D-EB58-4F92-9290-2A44D3DD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A0B0A-7637-4B59-B63F-4C61506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76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549F8-1473-4736-910B-BC609E9A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0042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F5A85-3FFD-4526-B206-838ABF2A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62375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9550F-FACB-4974-AE8D-F402A7C9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5700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5B743-6797-4997-AD74-48FEB014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67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INIT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8FDBA-879C-4DF0-A1B1-EF747C65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909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66DB4-A47E-44B5-8DC1-8077926F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147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0AD5F-B6D9-4041-9B32-0640695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8025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ACD94-00EF-401D-9C7B-780DDA20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53463-35B7-44EA-9037-B5D25B9B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3BE98-02C8-4129-A86F-DC9C2C46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5C180-8D00-41BF-9D73-D51B96A3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042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5F697-FCBC-4569-8889-AD9656C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62375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A9981-60ED-4653-BC4C-F900FEC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95700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6C0E8-EDCB-43D1-AB1D-E2C9D07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C5E98-C284-4A7A-92AE-DE9F178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909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0FE558-D76E-43D4-92CB-CF7F72A4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147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492F6-28D6-4EEF-B790-442DD9D5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48025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930144-F321-4C98-9C98-5FEB338E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FF8FA3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981B4-F7AF-4E3E-A765-7F28B972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52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ERROR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AC17E-D916-4A70-A86B-10A5295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ACE43-D165-42A1-ADAA-96B18040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042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8E01D4-1DE5-4B59-94C9-167AF75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62375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65FDF5-67CD-4F06-AA76-664C78B8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95700"/>
            <a:ext cx="116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CEBE53-E622-4EEE-84DB-66F69A5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67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RECOVER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EEE78C-D33B-44A3-B838-318370E8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43475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601105-C27C-4A57-916C-A674133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4E5FF">
                <a:alpha val="33333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F5A041-5890-4957-8069-76E5E605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673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transition table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021C0B-0E67-4BA5-804A-D74CA8F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673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guard / action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CC30D4-4E5E-4BD7-8383-C026CFD6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673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evidence 代码片段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28DD8C-9A42-46C7-86A9-4FCD51F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673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状态路径候选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6EC8D6-3950-4356-8D5D-F599304B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673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Mermaid / DOT 图</a:t>
            </a:r>
          </a:p>
        </p:txBody>
      </p:sp>
    </p:spTree>
    <p:extLst>
      <p:ext uri="{BB962C8B-B14F-4D97-AF65-F5344CB8AC3E}">
        <p14:creationId xmlns:p14="http://schemas.microsoft.com/office/powerpoint/2010/main" val="18509112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3AD41-6D5E-4538-81E8-07061285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593D-14F6-4BE5-994F-BD2E8790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633E5-65A6-4BF7-8708-3BBD5025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12610-4ED8-44FD-8AE0-F85C1C66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82269-F45A-4914-9953-9409FC1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4cb746a004f89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71D4A-12C7-4D7B-97D4-7BFA5FDA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离线 RAG / Rerank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051CD-AD9C-4B2A-A401-1C7F07A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1A82E-6A17-4878-B6B5-7478620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4AE72-A90C-47B4-BBE9-FF5C119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语义检索是可选增强，失败时回到本地结构检索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8A778-7544-450D-817B-B2C0CE87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embedding/rerank 不打包进 VSIX，由本机或内网服务提供；公共公网 endpoint 会被策略阻断。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047C8-FF8C-486D-97B9-20BDC97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0507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BFDF8-4F63-45EA-BC4E-C86F329B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8DAB3-7F3E-4A97-865C-28435790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38535-5BE2-427E-A5EA-3D55B940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函数摘要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6FB36-4866-49B7-A9E6-D0E361B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summary chunk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076A5-1D60-4EC6-ACA4-F7B1B01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0507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576DF-2E4A-4D4F-A15E-1B3DF9CD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C44CA-E3B8-4710-9A9D-671BDDC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6355-916F-4E14-B6FA-3564332D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文件摘要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3F0FD-0028-4E24-A6FB-427DC91E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summary chunk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3D3B5-3FD0-42BB-BE30-523B815A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0507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42A2D-D65D-4788-BFC2-E6B1A93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D076B-6848-46E8-BCA9-45D289F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95BE0-1788-4BFC-A687-831B019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模块摘要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D5C09-E5AA-42A3-B84A-F2A4CEE6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summary chunk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D3235-6484-4685-B11B-E91DDC68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0507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BA835-3662-4736-8959-840666E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34A03-BD84-4769-9909-F02DD35D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4BD47-2709-45BD-8AC8-0EC10491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状态机 transition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F6045E-25A9-476F-971B-FD52CDCD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summary chunk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46C58-DEC6-4F86-977D-E9AD1A5B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0522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4D536-7D62-4303-9CB0-790F29C2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16177D-C051-4BB1-93F3-04312EB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27CCC-5E9A-46EF-83CF-A6EDB3B1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本机/内网 embedding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4B461-6FF6-4C7F-A3D8-9C8DB316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retrieval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3864C7-9E1E-4032-AAAF-4800A7B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0522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6D962B-31CB-4431-BC54-7E4A98C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2F45D-6C81-4E9B-91A3-13A6E636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D88665-9C9B-4160-8878-7BB4D10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00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本机/内网 rerank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C598EC-D810-40F9-B21C-2D50E61C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retrieval path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77EED5-53A2-4FB1-A1C7-A9B4E60B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522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21518-5BB9-4A5F-86E9-2B98737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74D6F9-EB05-4D3C-81AE-39FF3280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56B8B1-A986-4B9C-A4FE-60F3C7F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D2F233-6184-4D62-84D7-5ED8EE64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retrieval path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2BA911-51FD-4C74-8406-B49C85F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05225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DA8712-8029-4A3F-A10C-A1F0B53D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1CECE9-A72F-451C-9979-233CCBD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1CF158-20E4-493D-8305-01564702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BM25 / symbol / graph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A9A014-A05F-4004-8A38-A1D5F983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retrieval path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C378FA-3E23-4E5C-AFF4-06C4E79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10175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E2EF22-BDF3-43B0-8F4D-30CAE400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4350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FFD27A">
                <a:alpha val="43922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F4C966-96D7-4C1B-8A6F-81F006A8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10175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Public endpoint blocked -&gt; local fallback</a:t>
            </a:r>
          </a:p>
        </p:txBody>
      </p:sp>
    </p:spTree>
    <p:extLst>
      <p:ext uri="{BB962C8B-B14F-4D97-AF65-F5344CB8AC3E}">
        <p14:creationId xmlns:p14="http://schemas.microsoft.com/office/powerpoint/2010/main" val="12287882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03832-0EA2-434F-9AB1-9DA2AE6A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45D87-4099-402B-8BD2-04B7F33F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6906B-17CA-4CC8-A8E8-C00146FF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9DB6C-7DC1-4C4C-B8E3-6A71825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6DF4E-0108-4523-B70D-9F1034B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74cfd6db4875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C1A0A-A8B1-45F8-A7CA-58D7D99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Local Analysis Bridge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DDF30-A346-4310-BCBC-028FBE7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2BD99-3E3A-4F5B-9206-B5066F8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BB7E6-90CE-4A13-99E4-0C11D6F3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让模型可控地查询本地索引，而不是自由扫文件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C74B9-42AF-437E-B59A-230E6B1B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Bridge 只开放 token 保护的 localhost 分析 API，每次调用记录审计信息。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BA10A-5723-4F63-9A2A-9F3A0F17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E990C-3BEE-43E5-9F3F-2CA96D8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B53CA-C023-4E16-9662-BCA365D6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BEE29-CF29-4FFF-ABA1-F4B2A6A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343CF-1AE1-4AC2-BA05-F8C5BFB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384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DBAC4-88BF-46B1-B126-C5DFE4D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384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7FF45-E6A1-4637-B1FD-3055DCE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81082-4D05-4C7F-8016-4D0D00F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384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getFileSlice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F11CA-88E0-414A-AD94-BFCDE42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337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FDA73-586B-4861-8EDD-5F19F4D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F7F3E-729F-4483-B357-C3FD29B7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337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getSymbol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A9963-529F-40F2-A7F7-6C8FD3B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337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BCDFB-55C6-4E3B-B9B1-BDD5B87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16ACE-21AE-4BE3-8645-17BE706A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337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getCallers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B9E49-E03E-4377-A76D-4C41888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290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23068-9765-4152-A0D5-C1EDCAF8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14BC0-A8D5-4E00-8B4D-2D7D86C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290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getCallees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68C91-852C-446E-A79B-ACBABC3A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290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E05C1-8BD8-4708-8E8C-2BA5FC9A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886C27-B90A-46E2-9FE2-58E5535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290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getCallChain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FC2E6-8520-48DF-9D9C-C964AF1F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243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2B7D1-917E-4FD3-B687-D0B6859D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C9A75-B7D7-4034-9F36-85C218B2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243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getModuleMap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8EE6C-6DC2-4192-901E-832A6C9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243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54381A-56E0-4F92-865E-984EC9A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F35947-5B7C-478C-B998-D1F81B5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243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getStateMachines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7524A2-F5E0-44C8-BBA2-AF0BB6F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96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8AB559-005D-4718-9086-D0B9A0C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01585-66C9-46A1-8126-2E1EF47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getStatePath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C2D761-FE84-4BFD-B052-0B02B317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96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11B6E1-9DFB-4621-AA99-F1AD87F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>
              <a:alpha val="90196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9B5D1F-A183-400E-9B72-14994CD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96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queryEvidence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396295-A4BF-4ED6-AA1C-3F6032E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0325"/>
            <a:ext cx="2857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37CE86-96DC-4188-B6FC-24989C33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857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DF33EC-69AC-4718-B9FB-56BE32E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81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5EA2D0-0E13-49C8-9E78-11E1B6D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Audit Trace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68997F-8A48-4C13-8CBA-98E7C490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tool name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参数摘要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evidence 数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耗时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策略阻断</a:t>
            </a:r>
          </a:p>
        </p:txBody>
      </p:sp>
    </p:spTree>
    <p:extLst>
      <p:ext uri="{BB962C8B-B14F-4D97-AF65-F5344CB8AC3E}">
        <p14:creationId xmlns:p14="http://schemas.microsoft.com/office/powerpoint/2010/main" val="274041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1ED58-9431-44C2-A390-E39DEA5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4231-E40F-4EC9-8165-3FB17EFB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8B2F9-C8C1-4449-9D07-6EF054BB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DB6AC-2727-493C-9AD5-8B401425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EB54A-5205-401F-9703-32F4A5A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87a4bde0648fe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85AFB-DD0D-4F10-BEBB-51C6F0AF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大仓支持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50983-6CF4-4AAB-9C52-9CCF443B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7E46C-20AF-49E5-BBA1-24CBFC8B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13FEB-3E78-425F-8EEC-EEF8C67D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大仓索引用 job、shard 和 lazy loading 控制复杂度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FDD92-444F-4547-98C9-30C346AD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目标不是一次加载全仓，而是让 100k+ 文件场景仍能按问题读取相关 shard。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88C8D-661F-4CEE-AEFA-2BB4DAA7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83489-E55C-462B-BBF7-B6C2C5B4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9EFCA-DAD9-4477-9F87-F12FD442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23649-9C0B-40E3-91FA-F7554F7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Job 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1C5BB-0A4C-4964-98E0-66A2BF7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194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paused / resumed / cancelled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365BB-733D-4871-ABE1-2DF9C7EF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52725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657C7-E73E-4DC2-8746-ADE8BBB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7D8E3-4B64-402E-8F67-85F3AD82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D0EDC-997E-48D6-9323-32F392E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Worker pool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4F0E1-A952-465E-97AE-8DDF536F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94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incremental indexing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watcher storm 合并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DB6EF-7581-4832-B0C4-3124EABC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66D49-7728-4312-9036-7B882F92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1EC31-3BAA-4FF5-8E8F-E7119F10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EE893-87C0-4829-B790-39DF168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Storage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329EF-9305-4549-B687-0EC10419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194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sharded JSON manifest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SQLite-compatible schema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25CAA-4042-4468-90D4-0118F05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52725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36710-2B31-4610-8942-38A94B4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324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CC738-47F8-4130-A24E-A3107FC9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DFD9A-B4F2-4EFF-B4A5-C002883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Query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184010-88D4-4C4C-B7FA-E31E9BE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00400"/>
            <a:ext cx="194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query-relevant shards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streaming-sharded benchmark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B7671-EA36-4862-821E-F139CC2B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76825"/>
            <a:ext cx="693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2D36DE-4F37-4454-A089-D4FC04C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693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136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903C5D-C003-4993-B3BC-438877D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24450"/>
            <a:ext cx="6400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100k+ files benchmark streaming-sharded mode</a:t>
            </a:r>
          </a:p>
        </p:txBody>
      </p:sp>
    </p:spTree>
    <p:extLst>
      <p:ext uri="{BB962C8B-B14F-4D97-AF65-F5344CB8AC3E}">
        <p14:creationId xmlns:p14="http://schemas.microsoft.com/office/powerpoint/2010/main" val="3667941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7FBE3-E9BB-4084-B217-7CCB0A87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3498F-A636-4C6F-9DEE-17C3780B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58E45-FA11-4CE4-A9E1-343A4131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A1489-3E8E-41C8-9D2A-D63AD72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08080-C301-4CD5-922F-41C7CB1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9515f09364e38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E966E-B5B6-425E-AD0E-0880639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安全边界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16107-C322-42CE-BD38-58FFC775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FDE2F-F400-47C2-9672-A322C3EC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D75F-5318-4181-8B2C-69D072A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Local-only Guard 把远端文件系统隔离成默认行为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96685-5020-47A2-9362-9F070A9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嵌入式项目涉及芯片平台、客户代码、私有驱动和量产配置，安全边界必须前置。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C052E-3947-4173-A94B-6C5223EE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226D8-3310-4EB6-99FE-45260C4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8FA3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DC251-6266-4883-965F-6EB0308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98FEC-EFAB-48B0-8871-CCEE7B1A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Denied remote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1B416-4A0F-4C6C-9134-B9AD7E7A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read   glob   grep   list   bash   edit   websearch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6D2DD-11AA-4B95-A8C6-C76B30D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DA747-621C-45F2-AE2A-06EB99B8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7B1E9-9115-4703-8C4F-BC9AE84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0514D-6CE5-4D65-A663-AC7B5A61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38400"/>
            <a:ext cx="447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Allowed controlled tool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9CF3E-2A77-44EE-957A-58BD7AD5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opencode_local_analysis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F21BD-F9D2-421B-BEDA-50693C25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2598E-F2F7-44CF-95E9-02D09D60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6240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远端模型只使用 VS Code 提供的本地上下文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76FC0-6915-4B20-95A9-6260E880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1EFAB-41AC-4E56-99F2-7CA1304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缺少本地文件内容时阻止或警告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E10F7-9281-48EB-B243-F4597A33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96674-AC97-4FCC-8FB0-57799634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strict local-only agent 禁用远端文件系统工具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B176E-D543-47FD-937F-5043D70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2C110-213B-4336-9C11-479FFB3F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只允许受控本地分析工具</a:t>
            </a:r>
          </a:p>
        </p:txBody>
      </p:sp>
    </p:spTree>
    <p:extLst>
      <p:ext uri="{BB962C8B-B14F-4D97-AF65-F5344CB8AC3E}">
        <p14:creationId xmlns:p14="http://schemas.microsoft.com/office/powerpoint/2010/main" val="5549653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54F94-95E3-4AA0-8A29-C95E5B20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111A7-9A21-4ED1-BBBE-FBD2CE5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B12A2-7F87-4072-BC24-C5C612F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D13AB-ABA2-48B3-AD79-C7224550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E1E93-9531-4494-B606-9CE69EB4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99bfb08204ae4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C79DC-495E-4DCF-B920-4E4F9862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为什么更适合嵌入式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7A254-AB63-45AF-8DAC-C9F11194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AD16-6F29-499B-B73B-B23B654D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38316-A2D8-45B2-88BA-9265905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差异化来自代码结构，而不是功能清单更长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33111-1893-494A-866C-A178D6B8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它优先服务解释、追踪、影响分析，而不是盲目生成代码。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00B75-DE5A-4538-B71B-7822E9A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B8553-7C05-4144-A6A3-36356B6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3C292-FFCD-4A89-BB27-2B14019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关注 C/C++ 固件仓库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32DD4-BF95-4FA2-A326-8E9B518D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431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D9BF0-3393-4851-8D64-FE726387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AFF5A-32A7-4888-A833-CDE26A15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显式建模 include / macro / call graph / state machine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90519-FEC0-4ADF-B85E-B9C38A3C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431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AE05C-587C-4602-935F-94E4EB3E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31007-C81D-469C-9091-5525538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支持本机或内网 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BEAB9-2412-4FBD-92C1-69E777E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72CF9-0077-4E71-9AB1-D9441508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0FB44-25DD-4A97-9D30-5A713B4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远端模型不直接读本地文件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5DCF4-454B-4F15-99A7-B55A349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72485-88C0-42DC-99EE-2C758E1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052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B04B6-5C28-420D-A776-941E003E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76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evidence 可跳回源码行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1E40E-7886-44DC-AEBE-08F3B446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10E6B-A603-4495-BD1F-4A0B60FF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8D737-57DF-4170-B024-C5F8608C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分片索引和增量更新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B63CA-A4C7-4A9A-947B-3295DFDC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1934D-7CE2-4DAD-A6FF-17715830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BDFC1-BCA6-4C67-8358-A9ACC13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适合老旧大仓和内网安全场景</a:t>
            </a:r>
          </a:p>
        </p:txBody>
      </p:sp>
    </p:spTree>
    <p:extLst>
      <p:ext uri="{BB962C8B-B14F-4D97-AF65-F5344CB8AC3E}">
        <p14:creationId xmlns:p14="http://schemas.microsoft.com/office/powerpoint/2010/main" val="15662954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D0B05-C164-42FF-BFC3-62E2AFE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516A8-89A6-47E3-8ACB-79DA8A24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3E8F7-9702-4F9B-B117-46333A7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7E33A-8D64-4DDC-BAC4-49B0A5A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773A0-C036-49ED-8D75-2FC1D1F8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e129f58f145df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2BEDC-EF82-4BBE-BFAC-46169B76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对比：GitHub Copilot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A806C-7243-4B51-BE54-6B28F56E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6C640-F06F-427C-9C44-6121678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VS Code Copilot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27D7B-5E6A-41D3-BDA0-0A61273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Copilot 是强通用助手，我们聚焦嵌入式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41E3A-D287-476F-AC39-5E1B26B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公开资料显示 Copilot agents 会结合 semantic search、grep、file search、usages 等工具理解工作区。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2ED96-AE76-420E-B12B-8661445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614B1-B78F-46EE-A946-AE4030F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36FDA-386A-4D4B-A92F-85FBE501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7A10D-BABB-40B9-A8FD-02E5DAB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GitHub Copilot 优势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0F277-BB5F-41A3-9087-48E624B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产品成熟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补全体验好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VS Code 集成深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workspace 级搜索工具丰富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D1408-9096-47F8-8B0A-BBDC644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6975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48091-5570-443A-8E6C-A5C23600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AC822-147D-4BA8-AFEC-D5D1E36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FD185-1F62-4A1E-A58C-1FB8A4D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我们的差异化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E0D26-FA0B-427C-B107-0BB5A885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C/C++ 固件 code graph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状态机、调用链、include、宏作为一等 evidence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local-only 和远端文件系统隔离默认开启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更贴近内网与私有嵌入式仓库</a:t>
            </a:r>
          </a:p>
        </p:txBody>
      </p:sp>
    </p:spTree>
    <p:extLst>
      <p:ext uri="{BB962C8B-B14F-4D97-AF65-F5344CB8AC3E}">
        <p14:creationId xmlns:p14="http://schemas.microsoft.com/office/powerpoint/2010/main" val="13117163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8C018-BFB2-4A8E-9BD4-E4E5C997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E095C-024C-4247-812F-7FBDE85B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7BF4D-3268-4CB5-B8F0-4FA8DEF6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08DB1-3587-48A9-8DD8-84FB5E1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A83BC-01D1-448D-8B88-5260B455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70f2929144413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83F4D-981F-4D2E-B20B-3624971E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对比：Cursor / Windsurf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82368-643F-49F8-AC1F-97ACD395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7B344-0538-47AA-918E-46B4992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Cursor blog / VS Marketplace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44850-9EE9-40F9-8D48-BE48E1A0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AI IDE 擅长快速迭代，我们保持 VS Code 工作流和本地证据边界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5C403-D519-4BFF-8A02-8F57416A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Cursor 强调 semantic search；Windsurf Marketplace 页面列出 autocomplete、chat、search 与 70+ 语言支持。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B19BD-5DB5-444B-94AD-83D935C1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B72E7-89EB-4271-8B09-2A8C529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A93C5-1986-47F3-98BA-0C17C1F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F2C34-025D-4D7E-AAE0-28F3B3E7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Cursor / Windsurf 优势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9A8EE-7267-4731-B7A8-0354BF1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AI IDE 体验完整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agent、chat、edit、autocomplete 一体化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语义搜索和代码库索引能力强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适合 Web/应用快速迭代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C3D0-ECF8-459A-A534-2821218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6975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CB554-B77A-4007-A64A-617A18EA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9CECF-180A-47C8-ADAE-2E7C2FAA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381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B5372-663E-4E38-8B5B-71F9BFBB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我们的差异化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BF864-FCBB-4EB3-9FF6-B6A9350E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4381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不要求切换 IDE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更强调已有 VS Code 嵌入式工作流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本地可控索引与 evidence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聚焦读懂老仓库</a:t>
            </a:r>
          </a:p>
        </p:txBody>
      </p:sp>
    </p:spTree>
    <p:extLst>
      <p:ext uri="{BB962C8B-B14F-4D97-AF65-F5344CB8AC3E}">
        <p14:creationId xmlns:p14="http://schemas.microsoft.com/office/powerpoint/2010/main" val="165875248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157B7-FE28-446F-8EDC-37C5F319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E46F8-CCAF-4457-BE2C-55A9C2FE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6A83E-846A-4ED6-96B5-907A5BDC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E49DE-FAC4-4ACF-9D36-246A6979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5F398-8D8A-4EF6-B63D-07407F1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070a7f2a2419d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66159-0DB0-48F4-826E-CA699BB1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对比：Continue / Tabnine / Cline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CACFF-69D7-4404-AF9D-DEDD4B9C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9FBBB-149E-44DB-8911-13D941D5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Continue docs / Tabnine / Cline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1E003-47AC-46F2-9905-C18A7C9A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我们不追求全能 agent，而是可审计的本地分析能力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4F43C-D56E-4BB6-972B-E300259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这些工具各有优势；OpenCode Remote 的位置更窄，也更贴近嵌入式安全场景。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F7776-38D6-4104-A313-04FD6B9D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67A6C-B402-4A3C-A627-F5B6DD60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D8ED2-9BC8-4C8F-BAF0-D3CF6E9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26571-8AD8-42D7-B779-0357426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Continue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3FE64-090B-46DF-B075-6B0A745B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开源、可配置模型；embedding 在 indexing 时生成并用于 codebase awareness。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D9C52-9929-47D8-9252-4E5495F5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28875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CE8ED-D3B3-4926-AEE6-D78925EE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58830-CC70-4A23-9B13-D0835681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73B5C-40AF-4553-95E4-D145B9AF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Tabnine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CA02F-0D89-4FAB-9134-FB66FF7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强调企业上下文、隐私、安全控制，以及 SaaS/on-prem/air-gapped 部署。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373B8-72EA-48E1-B970-5417E92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28875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DF33D-8FA4-4C52-9107-5711D233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276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9551F-9ECD-430B-9312-910BE4D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59095-A268-496C-8E1E-1DE1E6A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895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CB2AA-7244-45F3-98AA-857D65FB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面向复杂任务的 agent，可读写文件、运行命令、用浏览器，并要求用户审批。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FFCBD-F341-4A23-AC19-7B2A35CF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8420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ABBDC-5BBD-4A43-A0B8-2957E702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38650"/>
            <a:ext cx="8420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0FD4A-5A7D-4E78-ACC0-BE97E94F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33925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不以自动改代码为第一目标  ·  本地分析 + 证据注入 + 可审计问答  ·  安全内网与老旧大仓更易落地</a:t>
            </a:r>
          </a:p>
        </p:txBody>
      </p:sp>
    </p:spTree>
    <p:extLst>
      <p:ext uri="{BB962C8B-B14F-4D97-AF65-F5344CB8AC3E}">
        <p14:creationId xmlns:p14="http://schemas.microsoft.com/office/powerpoint/2010/main" val="89152235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BD83A-B8AD-4F0B-B034-0327C578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061AC-D743-4E34-AEBA-7B92F97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F5A60-63C2-4309-9CFC-2205025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8074C-0582-4DEA-A851-33B337D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38D16-06A0-44B7-86EA-A5864FA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5c6dde0194e3e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E984C-2743-4BCB-97BC-F4E7D5FB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代码补全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B371E-36BC-4ABD-8D16-208F7F57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22C70-F6D4-4FBC-8876-E8DF577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Completion docs / Local UI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42BAC-4775-4D22-ACBC-356466F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补全可以提，但不是本次重点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13B8E-D6A9-4D66-9266-48B0970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当前补全不是一次模型调用，而是 planner、retrieval、routing、postprocess、edit validation、quality gate、telemetry 的流水线。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4FF57-9073-4AD1-905E-C6057E1A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762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DBE24-7082-4334-BA9E-A02D8CD2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762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100BD-CA94-44DE-BF7B-645E2C1F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8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8EEFF-7A90-4E50-A9D0-1F7C74BB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已有能力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64A4D-B62A-42AD-B9FC-71B2F3E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381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默认关闭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OpenCode provider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OpenAI-compatible direct provider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Qwen Coder FIM profile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planner / retrieval / model routing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postprocess / edit validation / telemetry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4224A-3B20-42A6-8CAC-A96A6B1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76525"/>
            <a:ext cx="4762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B6C56-0855-4321-A37A-D2A53C98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4762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44CC0-0A76-4A58-8A02-4417872E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38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ABC10-46B9-45FD-B2F4-A288098E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438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当前作为未来增强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C5EF1-F857-4047-84B5-3F53F2CF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4381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真实 UI 路径还需更多验证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低质量 ghost code 需要更强 gating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C/C++ 场景需要更严格安全规则</a:t>
            </a:r>
          </a:p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P2 codegraph evidence 进入 prompt 的链路仍需完善</a:t>
            </a:r>
          </a:p>
        </p:txBody>
      </p:sp>
    </p:spTree>
    <p:extLst>
      <p:ext uri="{BB962C8B-B14F-4D97-AF65-F5344CB8AC3E}">
        <p14:creationId xmlns:p14="http://schemas.microsoft.com/office/powerpoint/2010/main" val="118236086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959BF-78A6-4372-9EAD-6A4F2810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01CD5-1743-430E-8EDF-5F6C9F2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B942C-67A8-438E-B4B7-098979D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67ED4-B314-438E-86D5-15DB7288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C8A19-67CF-46AC-8B0C-F39A2A90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3168311414528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40920-74FC-4C7C-8027-DF64D8DA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能力边界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FE196-2DCC-4CF0-8230-86AE3A81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C1EB-EC60-4F2E-8AF3-1506405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BA618-92B0-4F65-A339-F7B5426D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清楚边界，比过度承诺更重要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54C96-C988-4A33-9929-BA42C16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当前能力是轻量静态分析辅助证据，不替代编译器、测试和人工审查。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EFA41-08D5-44A0-BA44-96C88D65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3BC2F-7448-4EE0-8F95-8093E82B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B8CCEA">
                <a:alpha val="4392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2EAF3-494C-4581-B4BC-468D2F2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不是完整编译器语义分析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5AD21-4199-495F-ADAB-6E1C46C6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43175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2CB15-B2BF-4135-BC41-B8DF180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B8CCEA">
                <a:alpha val="4392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7A429-371E-4B2A-A447-A7EB3DE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不做完整宏展开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AA283-EA3D-4E13-95E8-B6E4127D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AEEF8-95D8-4DE3-AF76-9FB2ED6E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B8CCEA">
                <a:alpha val="4392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F62BC-2510-4681-A1BA-D8E4F974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不替代编译、测试、静态检查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684BE-6004-4907-A07C-7FC09956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43275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0C3C6-DD16-434F-A2B0-A0DE607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B8CCEA">
                <a:alpha val="4392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5B141-EE39-43DE-993B-6FF379D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条件编译复杂时 code graph 是辅助证据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3364F-48D4-44CE-9BD8-AD7685C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12890-5141-413E-A44C-401B9C4B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B8CCEA">
                <a:alpha val="4392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2B058-2D83-4297-934E-9CE8F2B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补全仍需继续完善和测试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FFABBD-4802-4B7F-9874-148A7189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43375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81480-DDCE-4997-B59B-4280AE6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7670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843"/>
            </a:srgbClr>
          </a:solidFill>
          <a:ln xmlns:a="http://schemas.openxmlformats.org/drawingml/2006/main" w="11430">
            <a:solidFill>
              <a:srgbClr val="B8CCEA">
                <a:alpha val="4392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F5A23-2E57-484C-8BCE-E809F64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9575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自动修改代码不是当前主目标</a:t>
            </a:r>
          </a:p>
        </p:txBody>
      </p:sp>
    </p:spTree>
    <p:extLst>
      <p:ext uri="{BB962C8B-B14F-4D97-AF65-F5344CB8AC3E}">
        <p14:creationId xmlns:p14="http://schemas.microsoft.com/office/powerpoint/2010/main" val="156598204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48169-C589-44BD-B2CD-97D7E03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71014-ABB2-41F4-9405-DEB66B3D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B00A5-8D75-485F-A0C6-A95028F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6576B-A0F0-4CA0-90A7-358718E4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31E12-A7A7-4204-B522-B479DF57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7e2d4863940d3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AFECF-2878-46CE-B9A3-7445123D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使用方法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CA99F-EA43-4756-A86D-5BFC7EE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B387B-BCCC-4EC2-8D7D-F2A8717D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211E5-549A-4688-8209-B044513C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连接 OpenCode Server：两端边界清晰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DE77B-06A2-433E-99BB-2958D98D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服务端负责推理，VS Code 插件负责本地上下文和 evidence 组织。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92541-AED3-48DC-86BD-DDD6D1CE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64973-05A0-48C6-873F-CA1FEB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00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27">
              <a:alpha val="90980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DB543-D106-4F9E-9576-168AA7F5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EFFB7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7EFFB7"/>
                </a:solidFill>
                <a:latin typeface="Aptos Mono"/>
                <a:ea typeface="Aptos Mono"/>
                <a:cs typeface="Aptos Mono"/>
              </a:rPr>
              <a:t>opencode 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28AE0-ED55-42C7-9C33-12725DE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E9D49-7CCE-4E70-9E65-D7CA143E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打开 OpenCode Activity 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C35A3-F9B7-47A7-9FFD-7758074B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57BD0-DEB9-4425-969F-81928511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执行 Connect to Remote OpenCode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86740-EDBC-45CB-9DF4-01E9CC63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85798-4076-460E-B74A-10CD271C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输入服务地址，如 http://localhost:4096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85F5C-FD77-4F46-A13B-BA80ACD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64194-4569-4B03-99A9-49B398F9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输入 Basic Auth 用户名和密码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8ADDF-2F24-4951-A0FC-2C76FDB8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AE663-4BDD-4EE6-B1CD-7CF5EDE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338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Test Remote OpenCode Connection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EEE2F-D9DF-4770-811C-554A8ABE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096C8-AED6-45A4-8DFF-399776DD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状态栏显示 OpenCode: Connected</a:t>
            </a:r>
          </a:p>
        </p:txBody>
      </p:sp>
    </p:spTree>
    <p:extLst>
      <p:ext uri="{BB962C8B-B14F-4D97-AF65-F5344CB8AC3E}">
        <p14:creationId xmlns:p14="http://schemas.microsoft.com/office/powerpoint/2010/main" val="95491463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731C9-4212-4DF0-AF22-85E0C77C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2B2FF-E022-4D8C-96EC-FB7BE114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B945B-B2F9-421B-87B3-C53BDE6A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AA7A3-A982-41E5-9FD8-31B0B35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A12D-BE20-4428-AC09-9CC2D95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5c70bee794739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984AB-E9CC-449D-AA85-70EC98CA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使用方法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8E7F7-3546-4CB0-B7D7-5E38041F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6C1E9-69EB-4618-AB4C-CDA21566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016AE-1D75-4DEC-9525-5A2FCA85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聊天时显式选择上下文，让回答有证据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38B51-04DF-4DE2-B211-D4355546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越明确的文件、选区、诊断和符号线索，越容易触发正确 evidence。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0E5FF-091D-4D50-84DB-344E8D04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651FA-9EC3-4FB3-B82E-21FD6F5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4E5FF">
                <a:alpha val="4392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05FF3-6492-46B7-936A-C744CD8C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直接输入问题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E8197-2A4B-4E7B-987C-DCB2174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479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0A4EC-94F2-4963-83B4-0533897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3A7FF">
                <a:alpha val="4392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1FBD7-4AA8-4AD7-9365-8BD5FB14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479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Current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CB2EC-DED9-44F0-8079-F8DBFFFD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8FB75-6B9C-4A40-87E8-A5D8558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EFFB7">
                <a:alpha val="4392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9712B-2EB4-4D02-9BB6-797B7D7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479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50BBA-B659-4A5D-A9F3-0CE06EAC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BDA4A-7016-4350-AE89-EE73F4B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BBA2FF">
                <a:alpha val="4392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3192C-A314-4384-BC5F-062DF73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B0DAC-BA28-4BE9-A73E-BAFE43F0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242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F0967-2035-433A-9520-35B2101B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FFD27A">
                <a:alpha val="4392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7793F-D264-419C-9F61-66FA7222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242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Git diff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08DD9-98D4-46DA-9B8E-0BBB53EB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242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40FBB-32BC-4C70-8361-587B4D25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4E5FF">
                <a:alpha val="4392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07D5A-7C05-4AB9-BECC-DD188646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@ 引用文件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D718E-E80D-4869-8125-F653419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1A6841-BC2F-4A98-974D-83D03E6D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3A7FF">
                <a:alpha val="43922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93F99A-B49C-464D-9E73-23CCB4A0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Attach 附加文件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3A7103-9290-4E7A-8887-3188CBF0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230FF-3A59-4DCB-8FFC-0E3A8E2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338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EFFB7">
                <a:alpha val="43922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24EE85-80F2-40AA-9E5D-947BE9D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005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Refresh 刷新上下文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7246C-46A8-4118-B054-41D63085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00525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EE97A3-F46D-4293-B753-3900072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BBA2FF">
                <a:alpha val="43922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5313F-5337-400A-B883-11054CF4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00525"/>
            <a:ext cx="2457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New Remote OpenCode Session</a:t>
            </a:r>
          </a:p>
        </p:txBody>
      </p:sp>
    </p:spTree>
    <p:extLst>
      <p:ext uri="{BB962C8B-B14F-4D97-AF65-F5344CB8AC3E}">
        <p14:creationId xmlns:p14="http://schemas.microsoft.com/office/powerpoint/2010/main" val="61582502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C44FF2-077E-4C59-9099-85AC3EA0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C711D-82F1-4F9A-971F-90CAAF8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F4D97-77A6-49B2-922F-5622B7B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217EA-0B6A-4528-842C-B06585BB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FDE4A-3E83-4711-863B-808E490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c239bc53645d2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F096-9D69-4918-B366-35E345FF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使用方法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CC574-9437-49E7-8610-B2FA5F51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21161-DF40-45D2-BA47-1F8455F6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D792-A8BC-4C40-8101-17B95BFF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Code Graph 与 Intel 面板形成索引到验证闭环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53A30-6D4F-4C2B-807D-46B5D45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索引 ready 后，可在 Intel 面板查看模块摘要、状态机、transition table、confidence，并跳转源码 evidence。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87856-950F-46C1-B3BA-6458BE2F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101727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48580-1A33-4B38-9B4C-EA9A01C7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01727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>
              <a:alpha val="90980"/>
            </a:srgbClr>
          </a:solidFill>
          <a:ln xmlns:a="http://schemas.openxmlformats.org/drawingml/2006/main" w="11430">
            <a:solidFill>
              <a:srgbClr val="74E5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609EC-6948-412B-9C9C-5D90867C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rPr>
              <a:t>OpenCode Remote: Index Local Code 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A01D3-F02A-4499-B17B-21747AF5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AAB7CC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AAB7CC"/>
                </a:solidFill>
                <a:latin typeface="Aptos Mono"/>
                <a:ea typeface="Aptos Mono"/>
                <a:cs typeface="Aptos Mono"/>
              </a:rPr>
              <a:t>OpenCode Remote: Rebuild Local Code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6C602-8866-4892-8318-68D58C13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rPr>
              <a:t>OpenCode Remote: Pause Local Code Graph Indexing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43953-6AB3-465C-9297-2C83AF7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AAB7CC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AAB7CC"/>
                </a:solidFill>
                <a:latin typeface="Aptos Mono"/>
                <a:ea typeface="Aptos Mono"/>
                <a:cs typeface="Aptos Mono"/>
              </a:rPr>
              <a:t>OpenCode Remote: Resume Local Code Graph Indexing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A86EB-51DD-4FCA-B876-18B87E9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rPr>
              <a:t>OpenCode Remote: Cancel Local Code Graph Indexing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2991E-7140-49B1-81C9-A09374D7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AAB7CC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AAB7CC"/>
                </a:solidFill>
                <a:latin typeface="Aptos Mono"/>
                <a:ea typeface="Aptos Mono"/>
                <a:cs typeface="Aptos Mono"/>
              </a:rPr>
              <a:t>OpenCode Remote: Show Local Code Graph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C4C0C-581C-4636-A951-42F3D72A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defRPr>
            </a:pPr>
            <a:r>
              <a:rPr sz="1238" b="0">
                <a:solidFill>
                  <a:srgbClr val="F3F7FF"/>
                </a:solidFill>
                <a:latin typeface="Aptos Mono"/>
                <a:ea typeface="Aptos Mono"/>
                <a:cs typeface="Aptos Mono"/>
              </a:rPr>
              <a:t>OpenCode Remote: Run Local Code Graph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A30E8-1A16-4723-95A5-19E36A69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14975"/>
            <a:ext cx="525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8F85D-8D05-4415-A2DD-F471001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48300"/>
            <a:ext cx="525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4E5FF">
                <a:alpha val="4392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97223-EAED-429F-B49C-7B21BA42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514975"/>
            <a:ext cx="501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Intel: module summary -&gt; state machine -&gt; evidence jump</a:t>
            </a:r>
          </a:p>
        </p:txBody>
      </p:sp>
    </p:spTree>
    <p:extLst>
      <p:ext uri="{BB962C8B-B14F-4D97-AF65-F5344CB8AC3E}">
        <p14:creationId xmlns:p14="http://schemas.microsoft.com/office/powerpoint/2010/main" val="23115677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F65DB-55BF-447B-9677-B50D9A6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221BC-A3AC-46E5-9ED4-9BA3DFE0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262A4-E343-43D2-BD1E-5C04D47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8D0DA-2062-4E4E-B1B1-82629B7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4D6F5-E256-4441-A1E9-495A4765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ca477c8364ccb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74B87-4DE0-4D1E-BFB8-AFF1BE09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建议 Demo 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4C512-F061-44C3-828D-73B045FC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EEA0F-26BE-4A64-A7B0-63A121D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9DB95-5674-47D2-B9C8-0274CEC0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Demo 要展示闭环，而不是只展示聊天窗口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6A18D-EF78-49B1-BC84-BAC8244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从连接、索引、问答、Intel 面板到 evidence 跳转，观众才能看到“整仓理解”。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F44ED-6911-4F55-91E4-A0D965F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8458B-2273-4A13-A975-DE13BE11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7CD09-1B41-42E9-8705-1A34395A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3D633-8068-4F6E-A194-A042A839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连接插件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34A01-05DC-4359-A61C-47205DC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serve、连接、local-only agent、状态栏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7CEAC-5EC4-4325-8D29-CDD0DFEE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38425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827DE-E365-4F42-B3B6-F90CAFA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73A7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124F8-E5AA-410D-8AFE-42DBC16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73E91-AC9A-4171-AC66-1E88438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整仓索引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ED15F-28DC-4106-9F09-7118BF4B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957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打开固件仓库、Index/Rebuild、查看 files/functions/macros/shards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F4987-878D-4EA3-A77A-FCF3352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4DA7D-6696-4310-946F-17509C7E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E1355-E069-4B70-9CC3-2107030E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8B611-B438-4311-97BD-6E3AB27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整仓问答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E2370-E1DB-4859-954E-53E94694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初始化流程、调用者、错误码、状态机、影响范围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F4879-ED97-49F5-AEA7-D9B4F02D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38425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776C0-12FE-4EE1-AFFE-0F7D1B7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D">
              <a:alpha val="87059"/>
            </a:srgbClr>
          </a:solidFill>
          <a:ln xmlns:a="http://schemas.openxmlformats.org/drawingml/2006/main" w="11430">
            <a:solidFill>
              <a:srgbClr val="BBA2FF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E0827-BB01-46C6-AF21-F061B2E2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EFCCE-8CF4-47EF-8A5C-0F24DC1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Code Intelligence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C7549-4D93-415E-B38C-4B1872D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module summary、state machine、evidence 跳源码</a:t>
            </a:r>
          </a:p>
        </p:txBody>
      </p:sp>
    </p:spTree>
    <p:extLst>
      <p:ext uri="{BB962C8B-B14F-4D97-AF65-F5344CB8AC3E}">
        <p14:creationId xmlns:p14="http://schemas.microsoft.com/office/powerpoint/2010/main" val="134498942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A5084-1379-454C-8197-A4B273D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FF646-D0FE-4536-8282-FD8C01D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FED65-783B-4E20-8E86-597E4E7E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B5EF7-E380-4CC1-8C0F-AC5EE1DD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34E15-1DE9-4C3D-B76C-482F3FDD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8996982c54dca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A3DAA-4345-4E35-9B6A-9AAAA04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路线图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F52FE-5628-49CF-8C0B-4DB61B96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D83DE-CA5D-45CF-AFA4-9CF171C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Completion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1AB24-609C-454C-9293-168C33E3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短期稳整仓理解，中期补语义，长期补安全生成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3E8EB-6F04-4660-80EE-41965018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路线图围绕“可信 evidence”逐步增强，而不是直接冲向自动改代码。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0B1BF-1D63-43A7-BD1C-B836CF85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554F3-129E-4AA6-9046-D4248F45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EFFB7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FD907-948E-4CC8-92F8-64F2E3B2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F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69725-91F8-4285-8C44-97678D7F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短期：把整仓理解打磨稳定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6173C-2F29-4562-9C86-D0E287F5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2476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parser 稳定性、状态机识别、模块摘要、evidence 排序、大仓增量体验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AB9AC-B733-4BE2-9E19-610B1C0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38425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09E4A-47BB-419B-AA8D-6C1F89E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74E5FF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495EE-C3EE-4489-B7DE-13A368C7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56A57-DAF8-4437-AEBC-D2A6DAE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中期：增强语义分析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EF29A-8B3E-425D-9D0F-CE919853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476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compile_commands.json、clangd / scip-clang、宏与条件编译、跨文件类型关系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53F7B-409B-4CDB-9D1E-639C93A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033A1-C083-44E8-A69A-4C49FDD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D">
              <a:alpha val="87059"/>
            </a:srgbClr>
          </a:solidFill>
          <a:ln xmlns:a="http://schemas.openxmlformats.org/drawingml/2006/main" w="11430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286B2-D844-4E21-BFA5-E2EBCE95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8C32C-21FD-4DF9-975E-44FB575D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432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长期：增强补全与安全生成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B0551-828A-40B8-BD1D-B0E64D74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476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ISR/RTOS/buffer/volatile 规则、CodeGraph evidence 进 prompt、UI ghost text 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0B93B-7B7A-4247-88B0-3EC5D7F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A5E7C-B3F2-4B84-98BC-AE3D3126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6FC5C-DFC4-4E0D-9E89-F6E507C0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385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EE9DF-5B62-4279-B933-9F7CEA3A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2809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043426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BEAD7-6D8C-41F0-A8F1-C65FBE75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F1EDA-5311-425A-B588-D56E6C4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CBD11-BC58-4E44-BFAA-C7EEEBF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4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6B6FC-CEFA-4DA0-A7BC-CBDAE71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61886-80BD-42AF-872B-AF1053F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8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5b7e1a8b64e46"/>
          <a:stretch xmlns:a="http://schemas.openxmlformats.org/drawingml/2006/main"/>
        </p:blipFill>
        <p:spPr>
          <a:xfrm xmlns:a="http://schemas.openxmlformats.org/drawingml/2006/main">
            <a:off x="723900" y="304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C8F53-7D64-4BED-ACDE-8B9D897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7CC"/>
                </a:solidFill>
                <a:latin typeface="Aptos"/>
                <a:ea typeface="Aptos"/>
                <a:cs typeface="Aptos"/>
              </a:rPr>
              <a:t>总结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4F1CB-5AF6-4F85-BD1D-86CF912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2809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809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00761-8B80-4E76-86E9-C17088F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89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59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59E"/>
                </a:solidFill>
                <a:latin typeface="Aptos"/>
                <a:ea typeface="Aptos"/>
                <a:cs typeface="Aptos"/>
              </a:rPr>
              <a:t>Source: 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88732-55FA-4C19-A0D2-51CCF5AB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核心价值：安全、准确、可验证地读懂整个系统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E895-D318-4CCB-A809-DA39028B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7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7CC"/>
                </a:solidFill>
                <a:latin typeface="Aptos"/>
                <a:ea typeface="Aptos"/>
                <a:cs typeface="Aptos"/>
              </a:rPr>
              <a:t>不是又做一个通用 AI Chat，也不是简单代码补全，而是把嵌入式整仓理解做成工程能力。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A299E-9CC7-4EDC-8BE6-8ECE445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6B648-7284-4177-9007-526CE6E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4E5FF">
                <a:alpha val="4392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81E20-CBD2-4CC6-9EAA-CD87FA82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本地索引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F6D50-C0F8-4234-8030-B9A7A351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E0FC7-4D9B-4590-A60E-8295F752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3A7FF">
                <a:alpha val="4392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CF560-432F-4811-8C0D-91EE0D8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C/C++ Code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3BB27-D704-450B-AB27-EEB8C57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717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F984E-D166-436B-8BE9-AC1EE981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EFFB7">
                <a:alpha val="4392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40457-CAE8-4FE3-8727-3A7B631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717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调用链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8751E-FA12-40FB-B5B6-C616BC39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66975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D5FEA-97B7-404B-86F2-E5251F03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BBA2FF">
                <a:alpha val="4392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3028C-7018-44FC-84D1-37F571B8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66975"/>
            <a:ext cx="1895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include / macro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9162D-1CDA-4E9E-9B11-C1B9E042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9082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3CCA9-49FD-4DB2-AE25-B0244C10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FFD27A">
                <a:alpha val="4392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BAC94-E6E0-4F6D-8AD5-3A70C71A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908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状态机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46B7C-EDCC-4AC3-A105-050A9F6C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814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B9A50-005F-43C4-A271-BA06D80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4E5FF">
                <a:alpha val="4392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C4FDF-D840-449E-8B88-B41AB03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81425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4E5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4E5FF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973FD1-16B6-4828-A740-299D957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243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FE29D-F1B4-45EE-A080-F765A726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3A7FF">
                <a:alpha val="43922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3258F-3465-417D-9BDA-182E6A49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12432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3A7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3A7FF"/>
                </a:solidFill>
                <a:latin typeface="Aptos"/>
                <a:ea typeface="Aptos"/>
                <a:cs typeface="Aptos"/>
              </a:rPr>
              <a:t>Local-only Guard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6CB95-BE7E-404F-9DA9-960097B2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DABA5-41D0-478F-81AB-16B76DCA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7EFFB7">
                <a:alpha val="43922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6EADE6-26FF-4682-8F92-027D483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814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EFFB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EFFB7"/>
                </a:solidFill>
                <a:latin typeface="Aptos"/>
                <a:ea typeface="Aptos"/>
                <a:cs typeface="Aptos"/>
              </a:rPr>
              <a:t>内网 / 离线友好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C97555-7B40-45E2-9012-D5FC4E3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9F5ADC-D8D9-4821-9A15-7A61A745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67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BBA2FF">
                <a:alpha val="43922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DBA88F-71DF-49E4-AD28-2BD0730E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433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BA2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BA2FF"/>
                </a:solidFill>
                <a:latin typeface="Aptos"/>
                <a:ea typeface="Aptos"/>
                <a:cs typeface="Aptos"/>
              </a:rPr>
              <a:t>可审计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493E4-98EE-4006-BD9C-532A671C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8142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E006B4-51F2-4439-97EB-34DA3D58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E">
              <a:alpha val="91765"/>
            </a:srgbClr>
          </a:solidFill>
          <a:ln xmlns:a="http://schemas.openxmlformats.org/drawingml/2006/main" w="11430">
            <a:solidFill>
              <a:srgbClr val="FFD27A">
                <a:alpha val="43922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2AFF27-232A-4036-95B2-62B02287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8142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D27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D27A"/>
                </a:solidFill>
                <a:latin typeface="Aptos"/>
                <a:ea typeface="Aptos"/>
                <a:cs typeface="Aptos"/>
              </a:rPr>
              <a:t>老仓库友好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352699-3CA9-4D21-ADB8-1D314FB8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915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7FF"/>
                </a:solidFill>
                <a:latin typeface="Aptos"/>
                <a:ea typeface="Aptos"/>
                <a:cs typeface="Aptos"/>
              </a:rPr>
              <a:t>对嵌入式开发来说，最重要的不是 AI 替我们写多少代码，而是它能不能安全、准确、可验证地帮助我们读懂整个系统。</a:t>
            </a:r>
          </a:p>
        </p:txBody>
      </p:sp>
    </p:spTree>
    <p:extLst>
      <p:ext uri="{BB962C8B-B14F-4D97-AF65-F5344CB8AC3E}">
        <p14:creationId xmlns:p14="http://schemas.microsoft.com/office/powerpoint/2010/main" val="1948892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2026-06-10T08:57:38.7790000Z</dcterms:created>
  <dcterms:modified xsi:type="dcterms:W3CDTF">2026-06-10T08:57:38.7790000Z</dcterms:modified>
</coreProperties>
</file>